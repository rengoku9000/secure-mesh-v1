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FEF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60" autoAdjust="0"/>
  </p:normalViewPr>
  <p:slideViewPr>
    <p:cSldViewPr snapToGrid="0" snapToObjects="1">
      <p:cViewPr varScale="1">
        <p:scale>
          <a:sx n="111" d="100"/>
          <a:sy n="111" d="100"/>
        </p:scale>
        <p:origin x="558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microsoft.com/office/2007/relationships/hdphoto" Target="../media/hdphoto1.wdp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389580" y="673393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MESH</a:t>
            </a:r>
            <a:endParaRPr lang="en-IN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2468" y="1649174"/>
            <a:ext cx="5853276" cy="4715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26223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Student innovation –</a:t>
            </a:r>
          </a:p>
          <a:p>
            <a:pPr>
              <a:lnSpc>
                <a:spcPct val="20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 Disaster Management includes ideas related to </a:t>
            </a:r>
          </a:p>
          <a:p>
            <a:pPr>
              <a:lnSpc>
                <a:spcPct val="20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 risk  mitigation, Planning and management</a:t>
            </a:r>
          </a:p>
          <a:p>
            <a:pPr>
              <a:lnSpc>
                <a:spcPct val="20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 before ,after or during a disaster.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Theme- Disaster Management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PS Category- 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Team Name- Outlaws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147028" y="16262"/>
            <a:ext cx="9046727" cy="1162518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Segoe UI Black" panose="020B0A02040204020203" pitchFamily="34" charset="0"/>
                <a:cs typeface="Times New Roman" panose="02020603050405020304" pitchFamily="18" charset="0"/>
              </a:rPr>
              <a:t>Secure Mesh- Private, Offline, Trusted, Intelligent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803" y="1136396"/>
            <a:ext cx="293623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b="1" u="sng" dirty="0">
                <a:solidFill>
                  <a:schemeClr val="tx2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itchFamily="34" charset="0"/>
              </a:rPr>
              <a:t>Proposed Solution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sz="2000" b="1" u="sng" dirty="0">
              <a:solidFill>
                <a:schemeClr val="tx2"/>
              </a:solidFill>
              <a:latin typeface="Cambria" panose="02040503050406030204" pitchFamily="18" charset="0"/>
              <a:ea typeface="Cambria" panose="02040503050406030204" pitchFamily="18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6503"/>
            <a:ext cx="1251857" cy="80733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50000"/>
              </a:schemeClr>
            </a:solidFill>
          </a:ln>
          <a:effectLst>
            <a:glow rad="101600">
              <a:schemeClr val="accent5">
                <a:lumMod val="50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OUTLAWS</a:t>
            </a:r>
            <a:endParaRPr lang="en-IN" sz="14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152" y="0"/>
            <a:ext cx="2249850" cy="1062337"/>
          </a:xfrm>
          <a:prstGeom prst="rect">
            <a:avLst/>
          </a:prstGeom>
        </p:spPr>
      </p:pic>
      <p:pic>
        <p:nvPicPr>
          <p:cNvPr id="26" name="Google Shape;89;p13" descr="image.png">
            <a:extLst>
              <a:ext uri="{FF2B5EF4-FFF2-40B4-BE49-F238E27FC236}">
                <a16:creationId xmlns:a16="http://schemas.microsoft.com/office/drawing/2014/main" id="{7FA2A7A1-AAC2-FEBF-A08E-AD2E6A15A497}"/>
              </a:ext>
            </a:extLst>
          </p:cNvPr>
          <p:cNvPicPr preferRelativeResize="0"/>
          <p:nvPr/>
        </p:nvPicPr>
        <p:blipFill rotWithShape="1">
          <a:blip r:embed="rId4">
            <a:alphaModFix/>
            <a:biLevel thresh="75000"/>
          </a:blip>
          <a:srcRect/>
          <a:stretch/>
        </p:blipFill>
        <p:spPr>
          <a:xfrm>
            <a:off x="657225" y="182880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99;p13" descr="image.png">
            <a:extLst>
              <a:ext uri="{FF2B5EF4-FFF2-40B4-BE49-F238E27FC236}">
                <a16:creationId xmlns:a16="http://schemas.microsoft.com/office/drawing/2014/main" id="{8E27DDE0-15F1-7DE7-DB04-142430B6FF7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7225" y="2209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100;p13">
            <a:extLst>
              <a:ext uri="{FF2B5EF4-FFF2-40B4-BE49-F238E27FC236}">
                <a16:creationId xmlns:a16="http://schemas.microsoft.com/office/drawing/2014/main" id="{E2B3B86C-5A0B-7449-3FA7-5B654AF62F31}"/>
              </a:ext>
            </a:extLst>
          </p:cNvPr>
          <p:cNvSpPr txBox="1"/>
          <p:nvPr/>
        </p:nvSpPr>
        <p:spPr>
          <a:xfrm>
            <a:off x="648180" y="4881717"/>
            <a:ext cx="1866900" cy="187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37" b="1" i="0" u="none" strike="noStrike" cap="none" dirty="0">
                <a:solidFill>
                  <a:srgbClr val="16653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Works even with no visible peers</a:t>
            </a:r>
            <a:endParaRPr b="1" dirty="0"/>
          </a:p>
        </p:txBody>
      </p:sp>
      <p:sp>
        <p:nvSpPr>
          <p:cNvPr id="33" name="Google Shape;117;p13">
            <a:extLst>
              <a:ext uri="{FF2B5EF4-FFF2-40B4-BE49-F238E27FC236}">
                <a16:creationId xmlns:a16="http://schemas.microsoft.com/office/drawing/2014/main" id="{9A765C1A-57A4-A289-F366-94624F1198A5}"/>
              </a:ext>
            </a:extLst>
          </p:cNvPr>
          <p:cNvSpPr txBox="1"/>
          <p:nvPr/>
        </p:nvSpPr>
        <p:spPr>
          <a:xfrm>
            <a:off x="1014412" y="1838285"/>
            <a:ext cx="1176655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latin typeface="Space Grotesk"/>
                <a:ea typeface="Space Grotesk"/>
                <a:cs typeface="Space Grotesk"/>
                <a:sym typeface="Space Grotesk"/>
              </a:rPr>
              <a:t>OFFLINE FIRST</a:t>
            </a:r>
            <a:endParaRPr sz="1400" dirty="0"/>
          </a:p>
        </p:txBody>
      </p:sp>
      <p:pic>
        <p:nvPicPr>
          <p:cNvPr id="35" name="Google Shape;118;p13" descr="image.png">
            <a:extLst>
              <a:ext uri="{FF2B5EF4-FFF2-40B4-BE49-F238E27FC236}">
                <a16:creationId xmlns:a16="http://schemas.microsoft.com/office/drawing/2014/main" id="{F243D20A-9F67-4794-F656-2117066E118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47712" y="2324100"/>
            <a:ext cx="23812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2DCCC60E-316D-9B51-AD38-151BDEC3D48F}"/>
              </a:ext>
            </a:extLst>
          </p:cNvPr>
          <p:cNvSpPr txBox="1"/>
          <p:nvPr/>
        </p:nvSpPr>
        <p:spPr>
          <a:xfrm>
            <a:off x="657225" y="2743200"/>
            <a:ext cx="2305050" cy="624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Local Sync: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Communicates, stores, and syncs all data locally</a:t>
            </a:r>
            <a:r>
              <a:rPr lang="en-US" sz="1012" b="0" i="0" u="none" strike="noStrike" cap="none" dirty="0"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39" name="Google Shape;120;p13">
            <a:extLst>
              <a:ext uri="{FF2B5EF4-FFF2-40B4-BE49-F238E27FC236}">
                <a16:creationId xmlns:a16="http://schemas.microsoft.com/office/drawing/2014/main" id="{B2BF0831-A36D-B888-E1B7-5A73D1AE1126}"/>
              </a:ext>
            </a:extLst>
          </p:cNvPr>
          <p:cNvSpPr txBox="1"/>
          <p:nvPr/>
        </p:nvSpPr>
        <p:spPr>
          <a:xfrm>
            <a:off x="657225" y="3602860"/>
            <a:ext cx="2305050" cy="624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Zero Cloud</a:t>
            </a:r>
            <a:r>
              <a:rPr lang="en-US" sz="16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6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Fully functional with no cloud dependency.</a:t>
            </a:r>
            <a:endParaRPr sz="1200" dirty="0"/>
          </a:p>
        </p:txBody>
      </p:sp>
      <p:pic>
        <p:nvPicPr>
          <p:cNvPr id="43" name="Google Shape;90;p13" descr="image.png">
            <a:extLst>
              <a:ext uri="{FF2B5EF4-FFF2-40B4-BE49-F238E27FC236}">
                <a16:creationId xmlns:a16="http://schemas.microsoft.com/office/drawing/2014/main" id="{AA7C82D4-41AA-292B-3DF9-B5453D927376}"/>
              </a:ext>
            </a:extLst>
          </p:cNvPr>
          <p:cNvPicPr preferRelativeResize="0"/>
          <p:nvPr/>
        </p:nvPicPr>
        <p:blipFill rotWithShape="1">
          <a:blip r:embed="rId7">
            <a:alphaModFix/>
            <a:biLevel thresh="75000"/>
          </a:blip>
          <a:srcRect/>
          <a:stretch/>
        </p:blipFill>
        <p:spPr>
          <a:xfrm>
            <a:off x="3514725" y="182880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101;p13" descr="image.png">
            <a:extLst>
              <a:ext uri="{FF2B5EF4-FFF2-40B4-BE49-F238E27FC236}">
                <a16:creationId xmlns:a16="http://schemas.microsoft.com/office/drawing/2014/main" id="{7B7A6365-533B-D482-9022-3C371E340A5C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514725" y="2209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103;p13">
            <a:extLst>
              <a:ext uri="{FF2B5EF4-FFF2-40B4-BE49-F238E27FC236}">
                <a16:creationId xmlns:a16="http://schemas.microsoft.com/office/drawing/2014/main" id="{BA7F4133-B1C8-56DE-B7B0-EBDBDD357209}"/>
              </a:ext>
            </a:extLst>
          </p:cNvPr>
          <p:cNvSpPr txBox="1"/>
          <p:nvPr/>
        </p:nvSpPr>
        <p:spPr>
          <a:xfrm>
            <a:off x="3514725" y="4881717"/>
            <a:ext cx="1857375" cy="187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37" b="1" i="0" u="none" strike="noStrike" cap="none" dirty="0">
                <a:solidFill>
                  <a:srgbClr val="1E40A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Built for availability under partition</a:t>
            </a:r>
            <a:endParaRPr b="1" dirty="0"/>
          </a:p>
        </p:txBody>
      </p:sp>
      <p:sp>
        <p:nvSpPr>
          <p:cNvPr id="51" name="Google Shape;121;p13">
            <a:extLst>
              <a:ext uri="{FF2B5EF4-FFF2-40B4-BE49-F238E27FC236}">
                <a16:creationId xmlns:a16="http://schemas.microsoft.com/office/drawing/2014/main" id="{ACFF7FED-EBC3-78D0-725B-49692AB8F1B0}"/>
              </a:ext>
            </a:extLst>
          </p:cNvPr>
          <p:cNvSpPr txBox="1"/>
          <p:nvPr/>
        </p:nvSpPr>
        <p:spPr>
          <a:xfrm>
            <a:off x="3837856" y="1834825"/>
            <a:ext cx="1800225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latin typeface="Space Grotesk"/>
                <a:ea typeface="Space Grotesk"/>
                <a:cs typeface="Space Grotesk"/>
                <a:sym typeface="Space Grotesk"/>
              </a:rPr>
              <a:t>DECENTRALIZED MESH</a:t>
            </a:r>
            <a:endParaRPr sz="1400" dirty="0"/>
          </a:p>
        </p:txBody>
      </p:sp>
      <p:pic>
        <p:nvPicPr>
          <p:cNvPr id="53" name="Google Shape;122;p13" descr="image.png">
            <a:extLst>
              <a:ext uri="{FF2B5EF4-FFF2-40B4-BE49-F238E27FC236}">
                <a16:creationId xmlns:a16="http://schemas.microsoft.com/office/drawing/2014/main" id="{43403F6A-41D6-521F-6BE5-A9DF02DB0C73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614737" y="2324100"/>
            <a:ext cx="2190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123;p13">
            <a:extLst>
              <a:ext uri="{FF2B5EF4-FFF2-40B4-BE49-F238E27FC236}">
                <a16:creationId xmlns:a16="http://schemas.microsoft.com/office/drawing/2014/main" id="{1317C762-B5FB-E676-C36A-76BD2394223C}"/>
              </a:ext>
            </a:extLst>
          </p:cNvPr>
          <p:cNvSpPr txBox="1"/>
          <p:nvPr/>
        </p:nvSpPr>
        <p:spPr>
          <a:xfrm>
            <a:off x="3514725" y="2743200"/>
            <a:ext cx="2305050" cy="58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Peer Discovery</a:t>
            </a:r>
            <a:r>
              <a:rPr lang="en-US" sz="1012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012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i="0" u="none" strike="noStrike" cap="none" dirty="0" err="1">
                <a:latin typeface="Inter"/>
                <a:ea typeface="Inter"/>
                <a:cs typeface="Inter"/>
                <a:sym typeface="Inter"/>
              </a:rPr>
              <a:t>mDNS</a:t>
            </a:r>
            <a:r>
              <a:rPr lang="en-US" sz="1200" i="0" u="none" strike="noStrike" cap="none" dirty="0">
                <a:latin typeface="Inter"/>
                <a:ea typeface="Inter"/>
                <a:cs typeface="Inter"/>
                <a:sym typeface="Inter"/>
              </a:rPr>
              <a:t> + QUIC + Ed25519 authentication.</a:t>
            </a:r>
            <a:endParaRPr sz="1200" dirty="0"/>
          </a:p>
        </p:txBody>
      </p:sp>
      <p:sp>
        <p:nvSpPr>
          <p:cNvPr id="57" name="Google Shape;124;p13">
            <a:extLst>
              <a:ext uri="{FF2B5EF4-FFF2-40B4-BE49-F238E27FC236}">
                <a16:creationId xmlns:a16="http://schemas.microsoft.com/office/drawing/2014/main" id="{6FD06586-A8C5-4575-B3FE-7AA586B93662}"/>
              </a:ext>
            </a:extLst>
          </p:cNvPr>
          <p:cNvSpPr txBox="1"/>
          <p:nvPr/>
        </p:nvSpPr>
        <p:spPr>
          <a:xfrm>
            <a:off x="3514725" y="3420180"/>
            <a:ext cx="2305050" cy="58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Signed Event Log</a:t>
            </a:r>
            <a:r>
              <a:rPr lang="en-US" sz="1012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Append-only log with origin sequence order.</a:t>
            </a:r>
            <a:endParaRPr sz="1200" dirty="0"/>
          </a:p>
        </p:txBody>
      </p:sp>
      <p:sp>
        <p:nvSpPr>
          <p:cNvPr id="59" name="Google Shape;125;p13">
            <a:extLst>
              <a:ext uri="{FF2B5EF4-FFF2-40B4-BE49-F238E27FC236}">
                <a16:creationId xmlns:a16="http://schemas.microsoft.com/office/drawing/2014/main" id="{C2A86B0F-13C5-0D9E-6840-5848AB4F95A1}"/>
              </a:ext>
            </a:extLst>
          </p:cNvPr>
          <p:cNvSpPr txBox="1"/>
          <p:nvPr/>
        </p:nvSpPr>
        <p:spPr>
          <a:xfrm>
            <a:off x="3514725" y="4238409"/>
            <a:ext cx="2305050" cy="58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Zero Overhead: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No blockchain or consensus friction.</a:t>
            </a:r>
            <a:endParaRPr sz="1200" dirty="0"/>
          </a:p>
        </p:txBody>
      </p:sp>
      <p:pic>
        <p:nvPicPr>
          <p:cNvPr id="63" name="Google Shape;91;p13" descr="image.png">
            <a:extLst>
              <a:ext uri="{FF2B5EF4-FFF2-40B4-BE49-F238E27FC236}">
                <a16:creationId xmlns:a16="http://schemas.microsoft.com/office/drawing/2014/main" id="{68041340-93C9-47E3-4B49-32E9ADA79F73}"/>
              </a:ext>
            </a:extLst>
          </p:cNvPr>
          <p:cNvPicPr preferRelativeResize="0"/>
          <p:nvPr/>
        </p:nvPicPr>
        <p:blipFill rotWithShape="1">
          <a:blip r:embed="rId10">
            <a:alphaModFix/>
            <a:biLevel thresh="75000"/>
          </a:blip>
          <a:srcRect/>
          <a:stretch/>
        </p:blipFill>
        <p:spPr>
          <a:xfrm>
            <a:off x="6400800" y="1838285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63" name="Google Shape;104;p13" descr="image.png">
            <a:extLst>
              <a:ext uri="{FF2B5EF4-FFF2-40B4-BE49-F238E27FC236}">
                <a16:creationId xmlns:a16="http://schemas.microsoft.com/office/drawing/2014/main" id="{EA30D80D-276C-3971-47A5-4C2B2761A18B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372225" y="2209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69" name="Google Shape;107;p13">
            <a:extLst>
              <a:ext uri="{FF2B5EF4-FFF2-40B4-BE49-F238E27FC236}">
                <a16:creationId xmlns:a16="http://schemas.microsoft.com/office/drawing/2014/main" id="{67C2BCA7-E858-0177-E39F-7E2B4637FEFB}"/>
              </a:ext>
            </a:extLst>
          </p:cNvPr>
          <p:cNvSpPr txBox="1"/>
          <p:nvPr/>
        </p:nvSpPr>
        <p:spPr>
          <a:xfrm>
            <a:off x="6358730" y="4882790"/>
            <a:ext cx="1998663" cy="187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37" b="1" i="0" u="none" strike="noStrike" cap="none" dirty="0">
                <a:solidFill>
                  <a:srgbClr val="4C1D9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Authentication alone grants nothing</a:t>
            </a:r>
            <a:endParaRPr b="1" dirty="0"/>
          </a:p>
        </p:txBody>
      </p:sp>
      <p:sp>
        <p:nvSpPr>
          <p:cNvPr id="15371" name="Google Shape;126;p13">
            <a:extLst>
              <a:ext uri="{FF2B5EF4-FFF2-40B4-BE49-F238E27FC236}">
                <a16:creationId xmlns:a16="http://schemas.microsoft.com/office/drawing/2014/main" id="{E491E136-A751-55B7-3546-3DA83B4222E1}"/>
              </a:ext>
            </a:extLst>
          </p:cNvPr>
          <p:cNvSpPr txBox="1"/>
          <p:nvPr/>
        </p:nvSpPr>
        <p:spPr>
          <a:xfrm>
            <a:off x="6729412" y="1817599"/>
            <a:ext cx="1924050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latin typeface="Space Grotesk"/>
                <a:ea typeface="Space Grotesk"/>
                <a:cs typeface="Space Grotesk"/>
                <a:sym typeface="Space Grotesk"/>
              </a:rPr>
              <a:t>ZERO-TRUST SECURITY</a:t>
            </a:r>
            <a:endParaRPr sz="1400" dirty="0"/>
          </a:p>
        </p:txBody>
      </p:sp>
      <p:pic>
        <p:nvPicPr>
          <p:cNvPr id="15373" name="Google Shape;127;p13" descr="image.png">
            <a:extLst>
              <a:ext uri="{FF2B5EF4-FFF2-40B4-BE49-F238E27FC236}">
                <a16:creationId xmlns:a16="http://schemas.microsoft.com/office/drawing/2014/main" id="{5C758617-276D-6467-6B29-0327FF6ECCD0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462712" y="2324100"/>
            <a:ext cx="23812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89" name="Google Shape;135;p13">
            <a:extLst>
              <a:ext uri="{FF2B5EF4-FFF2-40B4-BE49-F238E27FC236}">
                <a16:creationId xmlns:a16="http://schemas.microsoft.com/office/drawing/2014/main" id="{EE1C0AB8-D502-2EE5-6187-4062653FCBA9}"/>
              </a:ext>
            </a:extLst>
          </p:cNvPr>
          <p:cNvSpPr txBox="1"/>
          <p:nvPr/>
        </p:nvSpPr>
        <p:spPr>
          <a:xfrm>
            <a:off x="6389575" y="2745957"/>
            <a:ext cx="2305050" cy="58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Explicit Auth</a:t>
            </a:r>
            <a:r>
              <a:rPr lang="en-US" sz="1012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Authenticated before any peer exchange.</a:t>
            </a:r>
            <a:endParaRPr sz="1200" dirty="0"/>
          </a:p>
        </p:txBody>
      </p:sp>
      <p:sp>
        <p:nvSpPr>
          <p:cNvPr id="15391" name="Google Shape;136;p13">
            <a:extLst>
              <a:ext uri="{FF2B5EF4-FFF2-40B4-BE49-F238E27FC236}">
                <a16:creationId xmlns:a16="http://schemas.microsoft.com/office/drawing/2014/main" id="{CE8A1216-2371-1C21-B3CF-AACDC1DA2EF8}"/>
              </a:ext>
            </a:extLst>
          </p:cNvPr>
          <p:cNvSpPr txBox="1"/>
          <p:nvPr/>
        </p:nvSpPr>
        <p:spPr>
          <a:xfrm>
            <a:off x="6402417" y="3390118"/>
            <a:ext cx="2305050" cy="58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Rust Enforced</a:t>
            </a:r>
            <a:r>
              <a:rPr lang="en-US" sz="1012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Core trust state checked on every message.</a:t>
            </a:r>
            <a:endParaRPr sz="1200" dirty="0"/>
          </a:p>
        </p:txBody>
      </p:sp>
      <p:pic>
        <p:nvPicPr>
          <p:cNvPr id="15395" name="Google Shape;92;p13" descr="image.png">
            <a:extLst>
              <a:ext uri="{FF2B5EF4-FFF2-40B4-BE49-F238E27FC236}">
                <a16:creationId xmlns:a16="http://schemas.microsoft.com/office/drawing/2014/main" id="{E5C13C3E-ABDC-6DE0-5577-5E43725A1FF2}"/>
              </a:ext>
            </a:extLst>
          </p:cNvPr>
          <p:cNvPicPr preferRelativeResize="0"/>
          <p:nvPr/>
        </p:nvPicPr>
        <p:blipFill rotWithShape="1">
          <a:blip r:embed="rId13">
            <a:alphaModFix/>
            <a:biLevel thresh="75000"/>
          </a:blip>
          <a:srcRect/>
          <a:stretch/>
        </p:blipFill>
        <p:spPr>
          <a:xfrm>
            <a:off x="9229725" y="182880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97" name="Google Shape;108;p13" descr="image.png">
            <a:extLst>
              <a:ext uri="{FF2B5EF4-FFF2-40B4-BE49-F238E27FC236}">
                <a16:creationId xmlns:a16="http://schemas.microsoft.com/office/drawing/2014/main" id="{80A9AA23-FFCA-0EDA-4A04-D1520B618CFD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229725" y="2209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01" name="Google Shape;110;p13">
            <a:extLst>
              <a:ext uri="{FF2B5EF4-FFF2-40B4-BE49-F238E27FC236}">
                <a16:creationId xmlns:a16="http://schemas.microsoft.com/office/drawing/2014/main" id="{6CD82FB1-B553-29AA-51C1-E33F3D1F6BA6}"/>
              </a:ext>
            </a:extLst>
          </p:cNvPr>
          <p:cNvSpPr txBox="1"/>
          <p:nvPr/>
        </p:nvSpPr>
        <p:spPr>
          <a:xfrm>
            <a:off x="9229725" y="4889726"/>
            <a:ext cx="1866900" cy="187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37" b="1" i="0" u="none" strike="noStrike" cap="none" dirty="0">
                <a:solidFill>
                  <a:srgbClr val="065F4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Grounded answers. No guessing</a:t>
            </a:r>
            <a:r>
              <a:rPr lang="en-US" sz="937" b="0" i="0" u="none" strike="noStrike" cap="none" dirty="0">
                <a:solidFill>
                  <a:srgbClr val="065F4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.</a:t>
            </a:r>
            <a:endParaRPr dirty="0"/>
          </a:p>
        </p:txBody>
      </p:sp>
      <p:sp>
        <p:nvSpPr>
          <p:cNvPr id="15403" name="Google Shape;137;p13">
            <a:extLst>
              <a:ext uri="{FF2B5EF4-FFF2-40B4-BE49-F238E27FC236}">
                <a16:creationId xmlns:a16="http://schemas.microsoft.com/office/drawing/2014/main" id="{73690850-D047-6E9F-7FC5-ACEB789A2CF3}"/>
              </a:ext>
            </a:extLst>
          </p:cNvPr>
          <p:cNvSpPr txBox="1"/>
          <p:nvPr/>
        </p:nvSpPr>
        <p:spPr>
          <a:xfrm>
            <a:off x="9544050" y="1821207"/>
            <a:ext cx="1924050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latin typeface="Space Grotesk"/>
                <a:ea typeface="Space Grotesk"/>
                <a:cs typeface="Space Grotesk"/>
                <a:sym typeface="Space Grotesk"/>
              </a:rPr>
              <a:t>LOCAL &amp; GROUNDED AI</a:t>
            </a:r>
            <a:endParaRPr sz="1400" dirty="0"/>
          </a:p>
        </p:txBody>
      </p:sp>
      <p:pic>
        <p:nvPicPr>
          <p:cNvPr id="15405" name="Google Shape;138;p13" descr="image.png">
            <a:extLst>
              <a:ext uri="{FF2B5EF4-FFF2-40B4-BE49-F238E27FC236}">
                <a16:creationId xmlns:a16="http://schemas.microsoft.com/office/drawing/2014/main" id="{38C66EBE-E61A-C2A8-C7E1-C537E4DE6C6C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344025" y="2324100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07" name="Google Shape;139;p13">
            <a:extLst>
              <a:ext uri="{FF2B5EF4-FFF2-40B4-BE49-F238E27FC236}">
                <a16:creationId xmlns:a16="http://schemas.microsoft.com/office/drawing/2014/main" id="{93211A1C-465F-0FF4-71E1-8E178CAA1A94}"/>
              </a:ext>
            </a:extLst>
          </p:cNvPr>
          <p:cNvSpPr txBox="1"/>
          <p:nvPr/>
        </p:nvSpPr>
        <p:spPr>
          <a:xfrm>
            <a:off x="9229725" y="2743200"/>
            <a:ext cx="2305050" cy="58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On-Device:</a:t>
            </a:r>
            <a:r>
              <a:rPr lang="en-US" sz="1012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Qwen2.5-1.5B &amp; BGE embeddings via llama.cpp.</a:t>
            </a:r>
            <a:endParaRPr sz="1200" dirty="0"/>
          </a:p>
        </p:txBody>
      </p:sp>
      <p:sp>
        <p:nvSpPr>
          <p:cNvPr id="15409" name="Google Shape;140;p13">
            <a:extLst>
              <a:ext uri="{FF2B5EF4-FFF2-40B4-BE49-F238E27FC236}">
                <a16:creationId xmlns:a16="http://schemas.microsoft.com/office/drawing/2014/main" id="{211A6ADF-B37A-FD58-35AC-12F800900839}"/>
              </a:ext>
            </a:extLst>
          </p:cNvPr>
          <p:cNvSpPr txBox="1"/>
          <p:nvPr/>
        </p:nvSpPr>
        <p:spPr>
          <a:xfrm>
            <a:off x="9229725" y="3437659"/>
            <a:ext cx="2305050" cy="58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Air-Gapped:</a:t>
            </a:r>
            <a:r>
              <a:rPr lang="en-US" sz="14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Zero API keys and zero network calls</a:t>
            </a:r>
            <a:r>
              <a:rPr lang="en-US" sz="12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200" dirty="0"/>
          </a:p>
        </p:txBody>
      </p:sp>
      <p:sp>
        <p:nvSpPr>
          <p:cNvPr id="15411" name="Google Shape;141;p13">
            <a:extLst>
              <a:ext uri="{FF2B5EF4-FFF2-40B4-BE49-F238E27FC236}">
                <a16:creationId xmlns:a16="http://schemas.microsoft.com/office/drawing/2014/main" id="{79EE8125-A7AC-E445-ECE7-7B419AED417C}"/>
              </a:ext>
            </a:extLst>
          </p:cNvPr>
          <p:cNvSpPr txBox="1"/>
          <p:nvPr/>
        </p:nvSpPr>
        <p:spPr>
          <a:xfrm>
            <a:off x="9229725" y="4053043"/>
            <a:ext cx="2305050" cy="580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50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Citations:</a:t>
            </a:r>
            <a:r>
              <a:rPr lang="en-US" sz="140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>
                <a:latin typeface="Inter"/>
                <a:ea typeface="Inter"/>
                <a:cs typeface="Inter"/>
                <a:sym typeface="Inter"/>
              </a:rPr>
              <a:t>Answers derived from local data (0/19 to 19/19).</a:t>
            </a:r>
            <a:endParaRPr sz="1200" dirty="0"/>
          </a:p>
        </p:txBody>
      </p:sp>
      <p:pic>
        <p:nvPicPr>
          <p:cNvPr id="15435" name="Google Shape;84;p13" descr="image.png">
            <a:extLst>
              <a:ext uri="{FF2B5EF4-FFF2-40B4-BE49-F238E27FC236}">
                <a16:creationId xmlns:a16="http://schemas.microsoft.com/office/drawing/2014/main" id="{21E55F5F-AA16-89EB-D7C7-F7AC5C967EEF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10157" y="5880164"/>
            <a:ext cx="10886595" cy="557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37" name="Google Shape;97;p13" descr="image.png">
            <a:extLst>
              <a:ext uri="{FF2B5EF4-FFF2-40B4-BE49-F238E27FC236}">
                <a16:creationId xmlns:a16="http://schemas.microsoft.com/office/drawing/2014/main" id="{ABDADE7A-7F9E-CD8E-125D-4C58B7CF24C7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693102" y="6015931"/>
            <a:ext cx="16192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5439" name="Google Shape;98;p13">
            <a:extLst>
              <a:ext uri="{FF2B5EF4-FFF2-40B4-BE49-F238E27FC236}">
                <a16:creationId xmlns:a16="http://schemas.microsoft.com/office/drawing/2014/main" id="{7C0E25D5-292F-FAA8-429B-A6C8192E94CA}"/>
              </a:ext>
            </a:extLst>
          </p:cNvPr>
          <p:cNvSpPr txBox="1"/>
          <p:nvPr/>
        </p:nvSpPr>
        <p:spPr>
          <a:xfrm>
            <a:off x="947737" y="6008604"/>
            <a:ext cx="1904999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latin typeface="Space Grotesk"/>
                <a:ea typeface="Space Grotesk"/>
                <a:cs typeface="Space Grotesk"/>
                <a:sym typeface="Space Grotesk"/>
              </a:rPr>
              <a:t>PROOF, NOT PITCH</a:t>
            </a:r>
            <a:endParaRPr dirty="0"/>
          </a:p>
        </p:txBody>
      </p:sp>
      <p:pic>
        <p:nvPicPr>
          <p:cNvPr id="15441" name="Google Shape;111;p13" descr="image.png">
            <a:extLst>
              <a:ext uri="{FF2B5EF4-FFF2-40B4-BE49-F238E27FC236}">
                <a16:creationId xmlns:a16="http://schemas.microsoft.com/office/drawing/2014/main" id="{8BC50461-9935-BA39-9658-FC5499A6AA1D}"/>
              </a:ext>
            </a:extLst>
          </p:cNvPr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4995863" y="5926693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43" name="Google Shape;112;p13">
            <a:extLst>
              <a:ext uri="{FF2B5EF4-FFF2-40B4-BE49-F238E27FC236}">
                <a16:creationId xmlns:a16="http://schemas.microsoft.com/office/drawing/2014/main" id="{73DED758-EF15-1699-277B-EFC23B137D18}"/>
              </a:ext>
            </a:extLst>
          </p:cNvPr>
          <p:cNvSpPr txBox="1"/>
          <p:nvPr/>
        </p:nvSpPr>
        <p:spPr>
          <a:xfrm>
            <a:off x="3716008" y="5975870"/>
            <a:ext cx="140017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499</a:t>
            </a:r>
            <a:r>
              <a:rPr lang="en-US" sz="1200" b="1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1" i="0" u="none" strike="noStrike" cap="none" dirty="0">
                <a:latin typeface="Inter"/>
                <a:ea typeface="Inter"/>
                <a:cs typeface="Inter"/>
                <a:sym typeface="Inter"/>
              </a:rPr>
              <a:t>Automated Tests</a:t>
            </a:r>
            <a:endParaRPr sz="1200" b="1" dirty="0"/>
          </a:p>
        </p:txBody>
      </p:sp>
      <p:pic>
        <p:nvPicPr>
          <p:cNvPr id="15445" name="Google Shape;113;p13" descr="image.png">
            <a:extLst>
              <a:ext uri="{FF2B5EF4-FFF2-40B4-BE49-F238E27FC236}">
                <a16:creationId xmlns:a16="http://schemas.microsoft.com/office/drawing/2014/main" id="{21B9508F-5F61-22B2-F72D-5E09C2D909F9}"/>
              </a:ext>
            </a:extLst>
          </p:cNvPr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100888" y="5926693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47" name="Google Shape;114;p13">
            <a:extLst>
              <a:ext uri="{FF2B5EF4-FFF2-40B4-BE49-F238E27FC236}">
                <a16:creationId xmlns:a16="http://schemas.microsoft.com/office/drawing/2014/main" id="{FBDA8115-62E4-05D9-8C84-37CF5F6517AE}"/>
              </a:ext>
            </a:extLst>
          </p:cNvPr>
          <p:cNvSpPr txBox="1"/>
          <p:nvPr/>
        </p:nvSpPr>
        <p:spPr>
          <a:xfrm>
            <a:off x="6667500" y="5967142"/>
            <a:ext cx="183832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latin typeface="Inter"/>
                <a:ea typeface="Inter"/>
                <a:cs typeface="Inter"/>
                <a:sym typeface="Inter"/>
              </a:rPr>
              <a:t>Working Tauri Desktop App</a:t>
            </a:r>
            <a:endParaRPr sz="1200" b="1" dirty="0"/>
          </a:p>
        </p:txBody>
      </p:sp>
      <p:pic>
        <p:nvPicPr>
          <p:cNvPr id="15449" name="Google Shape;115;p13" descr="image.png">
            <a:extLst>
              <a:ext uri="{FF2B5EF4-FFF2-40B4-BE49-F238E27FC236}">
                <a16:creationId xmlns:a16="http://schemas.microsoft.com/office/drawing/2014/main" id="{D8B9E1F9-1912-0081-DD6A-909867447EFA}"/>
              </a:ext>
            </a:extLst>
          </p:cNvPr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9644063" y="5926693"/>
            <a:ext cx="3048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51" name="Google Shape;116;p13">
            <a:extLst>
              <a:ext uri="{FF2B5EF4-FFF2-40B4-BE49-F238E27FC236}">
                <a16:creationId xmlns:a16="http://schemas.microsoft.com/office/drawing/2014/main" id="{FD0C2FFF-3D53-694E-D05B-00DE74021DCF}"/>
              </a:ext>
            </a:extLst>
          </p:cNvPr>
          <p:cNvSpPr txBox="1"/>
          <p:nvPr/>
        </p:nvSpPr>
        <p:spPr>
          <a:xfrm>
            <a:off x="9544050" y="5954998"/>
            <a:ext cx="13716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Phase </a:t>
            </a:r>
            <a:r>
              <a:rPr lang="en-US" sz="1200" b="1" i="0" u="none" strike="noStrike" cap="none" dirty="0">
                <a:latin typeface="Inter"/>
                <a:ea typeface="Inter"/>
                <a:cs typeface="Inter"/>
                <a:sym typeface="Inter"/>
              </a:rPr>
              <a:t>2.6 Complete</a:t>
            </a:r>
            <a:endParaRPr sz="1200" b="1" dirty="0"/>
          </a:p>
        </p:txBody>
      </p:sp>
      <p:pic>
        <p:nvPicPr>
          <p:cNvPr id="15453" name="Google Shape;142;p13" descr="image.png">
            <a:extLst>
              <a:ext uri="{FF2B5EF4-FFF2-40B4-BE49-F238E27FC236}">
                <a16:creationId xmlns:a16="http://schemas.microsoft.com/office/drawing/2014/main" id="{2718C6C1-457D-C40F-E688-E02ED5971F4A}"/>
              </a:ext>
            </a:extLst>
          </p:cNvPr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3716008" y="6015931"/>
            <a:ext cx="185738" cy="1287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55" name="Google Shape;143;p13" descr="image.png">
            <a:extLst>
              <a:ext uri="{FF2B5EF4-FFF2-40B4-BE49-F238E27FC236}">
                <a16:creationId xmlns:a16="http://schemas.microsoft.com/office/drawing/2014/main" id="{B86E6C68-33E9-7534-1D4E-55539AF9E6B0}"/>
              </a:ext>
            </a:extLst>
          </p:cNvPr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6460198" y="6006314"/>
            <a:ext cx="1524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57" name="Google Shape;144;p13" descr="image.png">
            <a:extLst>
              <a:ext uri="{FF2B5EF4-FFF2-40B4-BE49-F238E27FC236}">
                <a16:creationId xmlns:a16="http://schemas.microsoft.com/office/drawing/2014/main" id="{BAE0FD07-1566-81B9-5B6A-A2EFEA725C1C}"/>
              </a:ext>
            </a:extLst>
          </p:cNvPr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9739313" y="5979128"/>
            <a:ext cx="114300" cy="1333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EDEFC24-C7A9-6D86-8248-2851F095F7D8}"/>
              </a:ext>
            </a:extLst>
          </p:cNvPr>
          <p:cNvCxnSpPr/>
          <p:nvPr/>
        </p:nvCxnSpPr>
        <p:spPr>
          <a:xfrm>
            <a:off x="3286664" y="1821207"/>
            <a:ext cx="0" cy="32560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9939A24-997B-657B-3302-0026F6604368}"/>
              </a:ext>
            </a:extLst>
          </p:cNvPr>
          <p:cNvCxnSpPr/>
          <p:nvPr/>
        </p:nvCxnSpPr>
        <p:spPr>
          <a:xfrm>
            <a:off x="9031857" y="1792177"/>
            <a:ext cx="0" cy="32560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C7F0C4F-2CAC-84E8-7D09-93C8DD6068E7}"/>
              </a:ext>
            </a:extLst>
          </p:cNvPr>
          <p:cNvCxnSpPr/>
          <p:nvPr/>
        </p:nvCxnSpPr>
        <p:spPr>
          <a:xfrm>
            <a:off x="6193767" y="1844282"/>
            <a:ext cx="0" cy="32560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0" y="6399162"/>
            <a:ext cx="12191999" cy="4588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/>
            <a:endParaRPr lang="en-US" sz="1800" dirty="0">
              <a:latin typeface="Calibri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0000" y="256503"/>
            <a:ext cx="8060000" cy="490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3600" b="1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APPROACH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5" name="Oval 4" descr="Your startup LOGO"/>
          <p:cNvSpPr/>
          <p:nvPr/>
        </p:nvSpPr>
        <p:spPr>
          <a:xfrm>
            <a:off x="328057" y="256503"/>
            <a:ext cx="1251857" cy="80733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50000"/>
              </a:schemeClr>
            </a:solidFill>
          </a:ln>
          <a:effectLst>
            <a:glow rad="101600">
              <a:schemeClr val="accent5">
                <a:lumMod val="50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OUTLAWS</a:t>
            </a:r>
            <a:endParaRPr lang="en-IN" sz="14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4357B4-3763-A753-1284-D2C5CB6455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854" t="4403" r="1105" b="50000"/>
          <a:stretch>
            <a:fillRect/>
          </a:stretch>
        </p:blipFill>
        <p:spPr>
          <a:xfrm>
            <a:off x="328057" y="3795623"/>
            <a:ext cx="5313618" cy="256073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19322E6-0A4B-B097-C22D-2C1007CD61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954" t="51446" r="67780" b="13390"/>
          <a:stretch>
            <a:fillRect/>
          </a:stretch>
        </p:blipFill>
        <p:spPr>
          <a:xfrm>
            <a:off x="328056" y="1307801"/>
            <a:ext cx="2406517" cy="244501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F3856DB-0E2E-81EE-F45D-766E209224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 l="33715" t="51447" r="35938" b="18594"/>
          <a:stretch>
            <a:fillRect/>
          </a:stretch>
        </p:blipFill>
        <p:spPr>
          <a:xfrm>
            <a:off x="2903600" y="1321937"/>
            <a:ext cx="2738076" cy="2409563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2449903" y="101266"/>
            <a:ext cx="6768859" cy="1111462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Segoe UI Black" panose="020B0A02040204020203" pitchFamily="34" charset="0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74864588-AE68-F97D-E8B2-B9FC7BE44EF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6503"/>
            <a:ext cx="1251857" cy="80733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50000"/>
              </a:schemeClr>
            </a:solidFill>
          </a:ln>
          <a:effectLst>
            <a:glow rad="101600">
              <a:schemeClr val="accent5">
                <a:lumMod val="50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OUTLAWS</a:t>
            </a:r>
            <a:endParaRPr lang="en-IN" sz="14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sp>
        <p:nvSpPr>
          <p:cNvPr id="17410" name="Rounded Rectangle 17409"/>
          <p:cNvSpPr/>
          <p:nvPr/>
        </p:nvSpPr>
        <p:spPr>
          <a:xfrm>
            <a:off x="502920" y="1298448"/>
            <a:ext cx="5257800" cy="4434840"/>
          </a:xfrm>
          <a:prstGeom prst="roundRect">
            <a:avLst>
              <a:gd name="adj" fmla="val 3500"/>
            </a:avLst>
          </a:prstGeom>
          <a:solidFill>
            <a:srgbClr val="EAF7F1"/>
          </a:solidFill>
          <a:ln w="12700">
            <a:solidFill>
              <a:srgbClr val="CBE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 Same Side Corner Rectangle 17410"/>
          <p:cNvSpPr/>
          <p:nvPr/>
        </p:nvSpPr>
        <p:spPr>
          <a:xfrm>
            <a:off x="502920" y="1298448"/>
            <a:ext cx="5257800" cy="475488"/>
          </a:xfrm>
          <a:prstGeom prst="round2SameRect">
            <a:avLst>
              <a:gd name="adj1" fmla="val 28000"/>
              <a:gd name="adj2" fmla="val 0"/>
            </a:avLst>
          </a:prstGeom>
          <a:solidFill>
            <a:srgbClr val="10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0000" rIns="120000" tIns="0" bIns="0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✓  </a:t>
            </a:r>
            <a:r>
              <a:rPr sz="1700" b="1">
                <a:solidFill>
                  <a:srgbClr val="FFFFFF"/>
                </a:solidFill>
                <a:latin typeface="Calibri"/>
              </a:rPr>
              <a:t>VALIDATED TODAY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758952" y="1865376"/>
            <a:ext cx="4745736" cy="3182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05D3D"/>
                </a:solidFill>
                <a:latin typeface="Calibri"/>
              </a:rPr>
              <a:t>✓  </a:t>
            </a:r>
            <a:r>
              <a:rPr sz="1300" b="1">
                <a:solidFill>
                  <a:srgbClr val="222222"/>
                </a:solidFill>
                <a:latin typeface="Calibri"/>
              </a:rPr>
              <a:t>P2P Mesh Networking</a:t>
            </a:r>
          </a:p>
          <a:p>
            <a:pPr>
              <a:spcAft>
                <a:spcPts val="900"/>
              </a:spcAft>
            </a:pPr>
            <a:r>
              <a:rPr sz="1050">
                <a:solidFill>
                  <a:srgbClr val="5A5A5A"/>
                </a:solidFill>
                <a:latin typeface="Calibri"/>
              </a:rPr>
              <a:t>     libp2p + QUIC transport, mDNS discovery, multi-hop relay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05D3D"/>
                </a:solidFill>
                <a:latin typeface="Calibri"/>
              </a:rPr>
              <a:t>✓  </a:t>
            </a:r>
            <a:r>
              <a:rPr sz="1300" b="1">
                <a:solidFill>
                  <a:srgbClr val="222222"/>
                </a:solidFill>
                <a:latin typeface="Calibri"/>
              </a:rPr>
              <a:t>Peer Identity &amp; Trust</a:t>
            </a:r>
          </a:p>
          <a:p>
            <a:pPr>
              <a:spcAft>
                <a:spcPts val="900"/>
              </a:spcAft>
            </a:pPr>
            <a:r>
              <a:rPr sz="1050">
                <a:solidFill>
                  <a:srgbClr val="5A5A5A"/>
                </a:solidFill>
                <a:latin typeface="Calibri"/>
              </a:rPr>
              <a:t>     Ed25519 node identity; peers explicitly enrolled by an operator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05D3D"/>
                </a:solidFill>
                <a:latin typeface="Calibri"/>
              </a:rPr>
              <a:t>✓  </a:t>
            </a:r>
            <a:r>
              <a:rPr sz="1300" b="1">
                <a:solidFill>
                  <a:srgbClr val="222222"/>
                </a:solidFill>
                <a:latin typeface="Calibri"/>
              </a:rPr>
              <a:t>Deterministic Synchronization</a:t>
            </a:r>
          </a:p>
          <a:p>
            <a:pPr>
              <a:spcAft>
                <a:spcPts val="900"/>
              </a:spcAft>
            </a:pPr>
            <a:r>
              <a:rPr sz="1050">
                <a:solidFill>
                  <a:srgbClr val="5A5A5A"/>
                </a:solidFill>
                <a:latin typeface="Calibri"/>
              </a:rPr>
              <a:t>     Conflict-free, offline-first sync over a signed event log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05D3D"/>
                </a:solidFill>
                <a:latin typeface="Calibri"/>
              </a:rPr>
              <a:t>✓  </a:t>
            </a:r>
            <a:r>
              <a:rPr sz="1300" b="1">
                <a:solidFill>
                  <a:srgbClr val="222222"/>
                </a:solidFill>
                <a:latin typeface="Calibri"/>
              </a:rPr>
              <a:t>Local AI + RAG</a:t>
            </a:r>
          </a:p>
          <a:p>
            <a:pPr>
              <a:spcAft>
                <a:spcPts val="900"/>
              </a:spcAft>
            </a:pPr>
            <a:r>
              <a:rPr sz="1050">
                <a:solidFill>
                  <a:srgbClr val="5A5A5A"/>
                </a:solidFill>
                <a:latin typeface="Calibri"/>
              </a:rPr>
              <a:t>     Fine-tuned Qwen2.5-1.5B on-device, with BGE embeddings for retrieval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05D3D"/>
                </a:solidFill>
                <a:latin typeface="Calibri"/>
              </a:rPr>
              <a:t>✓  </a:t>
            </a:r>
            <a:r>
              <a:rPr sz="1300" b="1">
                <a:solidFill>
                  <a:srgbClr val="222222"/>
                </a:solidFill>
                <a:latin typeface="Calibri"/>
              </a:rPr>
              <a:t>Offline-First Operation</a:t>
            </a:r>
          </a:p>
          <a:p>
            <a:pPr>
              <a:spcAft>
                <a:spcPts val="900"/>
              </a:spcAft>
            </a:pPr>
            <a:r>
              <a:rPr sz="1050">
                <a:solidFill>
                  <a:srgbClr val="5A5A5A"/>
                </a:solidFill>
                <a:latin typeface="Calibri"/>
              </a:rPr>
              <a:t>     Full incident capture and sync with zero connectivity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758952" y="5020056"/>
            <a:ext cx="4745736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E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0" bIns="0"/>
          <a:lstStyle/>
          <a:p>
            <a:pPr algn="l"/>
            <a:r>
              <a:rPr sz="1250" b="1">
                <a:solidFill>
                  <a:srgbClr val="105D3D"/>
                </a:solidFill>
                <a:latin typeface="Calibri"/>
              </a:rPr>
              <a:t>~2.5s</a:t>
            </a:r>
            <a:r>
              <a:rPr sz="1250" b="0">
                <a:solidFill>
                  <a:srgbClr val="222222"/>
                </a:solidFill>
                <a:latin typeface="Calibri"/>
              </a:rPr>
              <a:t> / analysis  </a:t>
            </a:r>
            <a:r>
              <a:rPr sz="1250" b="0">
                <a:solidFill>
                  <a:srgbClr val="BDBDBD"/>
                </a:solidFill>
                <a:latin typeface="Calibri"/>
              </a:rPr>
              <a:t>│  </a:t>
            </a:r>
            <a:r>
              <a:rPr sz="1250" b="1">
                <a:solidFill>
                  <a:srgbClr val="105D3D"/>
                </a:solidFill>
                <a:latin typeface="Calibri"/>
              </a:rPr>
              <a:t>759</a:t>
            </a:r>
            <a:r>
              <a:rPr sz="1250" b="0">
                <a:solidFill>
                  <a:srgbClr val="222222"/>
                </a:solidFill>
                <a:latin typeface="Calibri"/>
              </a:rPr>
              <a:t> tests, </a:t>
            </a:r>
            <a:r>
              <a:rPr sz="1250" b="1">
                <a:solidFill>
                  <a:srgbClr val="105D3D"/>
                </a:solidFill>
                <a:latin typeface="Calibri"/>
              </a:rPr>
              <a:t>0</a:t>
            </a:r>
            <a:r>
              <a:rPr sz="1250" b="0">
                <a:solidFill>
                  <a:srgbClr val="222222"/>
                </a:solidFill>
                <a:latin typeface="Calibri"/>
              </a:rPr>
              <a:t> failed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58952" y="5458968"/>
            <a:ext cx="47457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i="1">
                <a:solidFill>
                  <a:srgbClr val="5A5A5A"/>
                </a:solidFill>
                <a:latin typeface="Calibri"/>
              </a:rPr>
              <a:t>Measured on x86-64 CPU — Raspberry Pi / Jetson benchmarking in progress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263640" y="1298448"/>
            <a:ext cx="5257800" cy="4434840"/>
          </a:xfrm>
          <a:prstGeom prst="roundRect">
            <a:avLst>
              <a:gd name="adj" fmla="val 3500"/>
            </a:avLst>
          </a:prstGeom>
          <a:solidFill>
            <a:srgbClr val="FFF7E9"/>
          </a:solidFill>
          <a:ln w="12700">
            <a:solidFill>
              <a:srgbClr val="F3D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 Same Side Corner Rectangle 17415"/>
          <p:cNvSpPr/>
          <p:nvPr/>
        </p:nvSpPr>
        <p:spPr>
          <a:xfrm>
            <a:off x="6263640" y="1298448"/>
            <a:ext cx="5257800" cy="475488"/>
          </a:xfrm>
          <a:prstGeom prst="round2SameRect">
            <a:avLst>
              <a:gd name="adj1" fmla="val 28000"/>
              <a:gd name="adj2" fmla="val 0"/>
            </a:avLst>
          </a:prstGeom>
          <a:solidFill>
            <a:srgbClr val="E08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0000" rIns="120000" tIns="0" bIns="0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⚠  </a:t>
            </a:r>
            <a:r>
              <a:rPr sz="1700" b="1">
                <a:solidFill>
                  <a:srgbClr val="FFFFFF"/>
                </a:solidFill>
                <a:latin typeface="Calibri"/>
              </a:rPr>
              <a:t>KNOWN LIMITATIONS → NEXT STEPS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519672" y="1883664"/>
            <a:ext cx="474573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50" b="1">
                <a:solidFill>
                  <a:srgbClr val="E08E00"/>
                </a:solidFill>
                <a:latin typeface="Calibri"/>
              </a:rPr>
              <a:t>⚠  </a:t>
            </a:r>
            <a:r>
              <a:rPr sz="1250" b="1">
                <a:solidFill>
                  <a:srgbClr val="222222"/>
                </a:solidFill>
                <a:latin typeface="Calibri"/>
              </a:rPr>
              <a:t>Revocation does not propagate mesh-wide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8A8A8A"/>
                </a:solidFill>
                <a:latin typeface="Calibri"/>
              </a:rPr>
              <a:t>     → </a:t>
            </a:r>
            <a:r>
              <a:rPr sz="1100">
                <a:solidFill>
                  <a:srgbClr val="5A5A5A"/>
                </a:solidFill>
                <a:latin typeface="Calibri"/>
              </a:rPr>
              <a:t>mesh-wide revocation propagation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E08E00"/>
                </a:solidFill>
                <a:latin typeface="Calibri"/>
              </a:rPr>
              <a:t>⚠  </a:t>
            </a:r>
            <a:r>
              <a:rPr sz="1250" b="1">
                <a:solidFill>
                  <a:srgbClr val="222222"/>
                </a:solidFill>
                <a:latin typeface="Calibri"/>
              </a:rPr>
              <a:t>Private keys secured by OS permissions only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8A8A8A"/>
                </a:solidFill>
                <a:latin typeface="Calibri"/>
              </a:rPr>
              <a:t>     → </a:t>
            </a:r>
            <a:r>
              <a:rPr sz="1100">
                <a:solidFill>
                  <a:srgbClr val="5A5A5A"/>
                </a:solidFill>
                <a:latin typeface="Calibri"/>
              </a:rPr>
              <a:t>hardware-backed keys (TPM / TEE)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E08E00"/>
                </a:solidFill>
                <a:latin typeface="Calibri"/>
              </a:rPr>
              <a:t>⚠  </a:t>
            </a:r>
            <a:r>
              <a:rPr sz="1250" b="1">
                <a:solidFill>
                  <a:srgbClr val="222222"/>
                </a:solidFill>
                <a:latin typeface="Calibri"/>
              </a:rPr>
              <a:t>Relay nodes can read forwarded plaintext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8A8A8A"/>
                </a:solidFill>
                <a:latin typeface="Calibri"/>
              </a:rPr>
              <a:t>     → </a:t>
            </a:r>
            <a:r>
              <a:rPr sz="1100">
                <a:solidFill>
                  <a:srgbClr val="5A5A5A"/>
                </a:solidFill>
                <a:latin typeface="Calibri"/>
              </a:rPr>
              <a:t>application-layer end-to-end encryption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E08E00"/>
                </a:solidFill>
                <a:latin typeface="Calibri"/>
              </a:rPr>
              <a:t>⚠  </a:t>
            </a:r>
            <a:r>
              <a:rPr sz="1250" b="1">
                <a:solidFill>
                  <a:srgbClr val="222222"/>
                </a:solidFill>
                <a:latin typeface="Calibri"/>
              </a:rPr>
              <a:t>No independent security audit yet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8A8A8A"/>
                </a:solidFill>
                <a:latin typeface="Calibri"/>
              </a:rPr>
              <a:t>     → </a:t>
            </a:r>
            <a:r>
              <a:rPr sz="1100">
                <a:solidFill>
                  <a:srgbClr val="5A5A5A"/>
                </a:solidFill>
                <a:latin typeface="Calibri"/>
              </a:rPr>
              <a:t>penetration testing and review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519672" y="5257800"/>
            <a:ext cx="4745736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3D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0000" rIns="120000" tIns="0" bIns="0"/>
          <a:lstStyle/>
          <a:p>
            <a:pPr algn="l"/>
            <a:r>
              <a:rPr sz="950" i="1" b="1">
                <a:solidFill>
                  <a:srgbClr val="8A5A00"/>
                </a:solidFill>
                <a:latin typeface="Calibri"/>
              </a:rPr>
              <a:t>Every claim on this slide is backed by an automated test or a measurement.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440086" y="-40344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Segoe UI Black" panose="020B0A02040204020203" pitchFamily="34" charset="0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595AF433-6E91-BD54-F1A8-1AF4CED8419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6503"/>
            <a:ext cx="1251857" cy="80733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50000"/>
              </a:schemeClr>
            </a:solidFill>
          </a:ln>
          <a:effectLst>
            <a:glow rad="101600">
              <a:schemeClr val="accent5">
                <a:lumMod val="50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OUTLAWS</a:t>
            </a:r>
            <a:endParaRPr lang="en-IN" sz="14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8E8060-2298-1E45-1E86-BD0278B82A6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006" t="18998" r="27803" b="63908"/>
          <a:stretch>
            <a:fillRect/>
          </a:stretch>
        </p:blipFill>
        <p:spPr>
          <a:xfrm>
            <a:off x="636427" y="5240452"/>
            <a:ext cx="1890406" cy="1075492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666577-17A5-6D9A-B0A2-A6CAEA9F42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583" t="18998" r="1803" b="65047"/>
          <a:stretch>
            <a:fillRect/>
          </a:stretch>
        </p:blipFill>
        <p:spPr>
          <a:xfrm>
            <a:off x="2977102" y="5234452"/>
            <a:ext cx="1834804" cy="1084861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410D61-01D1-EBF8-1031-944038FF18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413" t="39644" r="29120" b="44401"/>
          <a:stretch>
            <a:fillRect/>
          </a:stretch>
        </p:blipFill>
        <p:spPr>
          <a:xfrm>
            <a:off x="5367026" y="5227712"/>
            <a:ext cx="1766348" cy="1075491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339440-8DEA-1863-E3CF-69B2444CB2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2266" t="39644" r="2546" b="44401"/>
          <a:stretch>
            <a:fillRect/>
          </a:stretch>
        </p:blipFill>
        <p:spPr>
          <a:xfrm>
            <a:off x="7458618" y="5234452"/>
            <a:ext cx="1906774" cy="1078861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19869C2-E24F-BA4B-F5CF-06CF27785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607" t="59181" r="28872" b="22846"/>
          <a:stretch>
            <a:fillRect/>
          </a:stretch>
        </p:blipFill>
        <p:spPr>
          <a:xfrm>
            <a:off x="9552614" y="5224410"/>
            <a:ext cx="1747286" cy="1078793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FDD977-BAFA-D664-A584-AE0B33E2876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560" b="11573"/>
          <a:stretch>
            <a:fillRect/>
          </a:stretch>
        </p:blipFill>
        <p:spPr>
          <a:xfrm>
            <a:off x="636427" y="1141474"/>
            <a:ext cx="7705316" cy="405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/>
            <a:endParaRPr lang="en-US" sz="1800" dirty="0">
              <a:latin typeface="Calibri"/>
            </a:endParaRPr>
          </a:p>
        </p:txBody>
      </p:sp>
      <p:sp>
        <p:nvSpPr>
          <p:cNvPr id="101" name="Band 0"/>
          <p:cNvSpPr/>
          <p:nvPr/>
        </p:nvSpPr>
        <p:spPr>
          <a:xfrm>
            <a:off x="1290000" y="1290000"/>
            <a:ext cx="10620000" cy="600000"/>
          </a:xfrm>
          <a:prstGeom prst="roundRect">
            <a:avLst>
              <a:gd name="adj" fmla="val 13000"/>
            </a:avLst>
          </a:prstGeom>
          <a:solidFill>
            <a:srgbClr val="F1F5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02" name="Link 0"/>
          <p:cNvCxnSpPr/>
          <p:nvPr/>
        </p:nvCxnSpPr>
        <p:spPr>
          <a:xfrm>
            <a:off x="1130000" y="1590000"/>
            <a:ext cx="170000" cy="0"/>
          </a:xfrm>
          <a:prstGeom prst="line">
            <a:avLst/>
          </a:prstGeom>
          <a:ln w="12700">
            <a:solidFill>
              <a:srgbClr val="B9C8DD"/>
            </a:solidFill>
            <a:prstDash val="sysDot"/>
            <a:tailEnd type="triangle" w="sm" len="sm"/>
          </a:ln>
        </p:spPr>
      </p:cxnSp>
      <p:sp>
        <p:nvSpPr>
          <p:cNvPr id="103" name="Tile 0"/>
          <p:cNvSpPr/>
          <p:nvPr/>
        </p:nvSpPr>
        <p:spPr>
          <a:xfrm>
            <a:off x="470000" y="1270000"/>
            <a:ext cx="640000" cy="640000"/>
          </a:xfrm>
          <a:prstGeom prst="roundRect">
            <a:avLst>
              <a:gd name="adj" fmla="val 21000"/>
            </a:avLst>
          </a:prstGeom>
          <a:solidFill>
            <a:srgbClr val="EA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4" name="Icon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00" y="1390000"/>
            <a:ext cx="400000" cy="400000"/>
          </a:xfrm>
          <a:prstGeom prst="rect">
            <a:avLst/>
          </a:prstGeom>
        </p:spPr>
      </p:pic>
      <p:sp>
        <p:nvSpPr>
          <p:cNvPr id="105" name="Text 0"/>
          <p:cNvSpPr txBox="1"/>
          <p:nvPr/>
        </p:nvSpPr>
        <p:spPr>
          <a:xfrm>
            <a:off x="1540000" y="1335000"/>
            <a:ext cx="10220000" cy="5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246000" indent="-246000">
              <a:lnSpc>
                <a:spcPct val="100000"/>
              </a:lnSpc>
              <a:buClr>
                <a:srgbClr val="10294F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0294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 Repository: </a:t>
            </a:r>
            <a:r>
              <a:rPr lang="en-US" sz="1400" dirty="0">
                <a:solidFill>
                  <a:srgbClr val="1F6FC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github.com/Rengoku9000/Secure-Mesh-V1</a:t>
            </a:r>
          </a:p>
          <a:p>
            <a:pPr marL="24600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code, documentation, tests and measured benchmarks.</a:t>
            </a:r>
            <a:endParaRPr lang="en-US" sz="1200" dirty="0">
              <a:solidFill>
                <a:srgbClr val="3A4A5E"/>
              </a:solidFill>
              <a:latin typeface="Segoe UI" panose="020B0502040204020203" pitchFamily="34" charset="0"/>
            </a:endParaRPr>
          </a:p>
        </p:txBody>
      </p:sp>
      <p:sp>
        <p:nvSpPr>
          <p:cNvPr id="106" name="Band 1"/>
          <p:cNvSpPr/>
          <p:nvPr/>
        </p:nvSpPr>
        <p:spPr>
          <a:xfrm>
            <a:off x="1290000" y="1990000"/>
            <a:ext cx="10620000" cy="600000"/>
          </a:xfrm>
          <a:prstGeom prst="roundRect">
            <a:avLst>
              <a:gd name="adj" fmla="val 13000"/>
            </a:avLst>
          </a:prstGeom>
          <a:solidFill>
            <a:srgbClr val="F1F5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07" name="Link 1"/>
          <p:cNvCxnSpPr/>
          <p:nvPr/>
        </p:nvCxnSpPr>
        <p:spPr>
          <a:xfrm>
            <a:off x="1130000" y="2290000"/>
            <a:ext cx="170000" cy="0"/>
          </a:xfrm>
          <a:prstGeom prst="line">
            <a:avLst/>
          </a:prstGeom>
          <a:ln w="12700">
            <a:solidFill>
              <a:srgbClr val="B9C8DD"/>
            </a:solidFill>
            <a:prstDash val="sysDot"/>
            <a:tailEnd type="triangle" w="sm" len="sm"/>
          </a:ln>
        </p:spPr>
      </p:cxnSp>
      <p:sp>
        <p:nvSpPr>
          <p:cNvPr id="108" name="Tile 1"/>
          <p:cNvSpPr/>
          <p:nvPr/>
        </p:nvSpPr>
        <p:spPr>
          <a:xfrm>
            <a:off x="470000" y="1970000"/>
            <a:ext cx="640000" cy="640000"/>
          </a:xfrm>
          <a:prstGeom prst="roundRect">
            <a:avLst>
              <a:gd name="adj" fmla="val 21000"/>
            </a:avLst>
          </a:prstGeom>
          <a:solidFill>
            <a:srgbClr val="EA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9" name="Ico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000" y="2090000"/>
            <a:ext cx="400000" cy="400000"/>
          </a:xfrm>
          <a:prstGeom prst="rect">
            <a:avLst/>
          </a:prstGeom>
        </p:spPr>
      </p:pic>
      <p:sp>
        <p:nvSpPr>
          <p:cNvPr id="110" name="Text 1"/>
          <p:cNvSpPr txBox="1"/>
          <p:nvPr/>
        </p:nvSpPr>
        <p:spPr>
          <a:xfrm>
            <a:off x="1540000" y="2035000"/>
            <a:ext cx="10220000" cy="5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246000" indent="-246000">
              <a:lnSpc>
                <a:spcPct val="100000"/>
              </a:lnSpc>
              <a:buClr>
                <a:srgbClr val="10294F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0294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Qwen2.5-1.5B-Instruct: </a:t>
            </a:r>
            <a:r>
              <a:rPr lang="en-US" sz="1400" dirty="0">
                <a:solidFill>
                  <a:srgbClr val="1F6FC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huggingface.co/Qwen/Qwen2.5-1.5B-Instruct-GGUF</a:t>
            </a:r>
            <a:r>
              <a:rPr lang="en-US" sz="14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(Apache-2.0)</a:t>
            </a:r>
          </a:p>
          <a:p>
            <a:pPr marL="24600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Local LLM used for on-device inference.</a:t>
            </a:r>
            <a:endParaRPr lang="en-US" sz="1200" dirty="0">
              <a:solidFill>
                <a:srgbClr val="3A4A5E"/>
              </a:solidFill>
              <a:latin typeface="Segoe UI" panose="020B0502040204020203" pitchFamily="34" charset="0"/>
            </a:endParaRPr>
          </a:p>
        </p:txBody>
      </p:sp>
      <p:sp>
        <p:nvSpPr>
          <p:cNvPr id="111" name="Band 2"/>
          <p:cNvSpPr/>
          <p:nvPr/>
        </p:nvSpPr>
        <p:spPr>
          <a:xfrm>
            <a:off x="1290000" y="2690000"/>
            <a:ext cx="10620000" cy="600000"/>
          </a:xfrm>
          <a:prstGeom prst="roundRect">
            <a:avLst>
              <a:gd name="adj" fmla="val 13000"/>
            </a:avLst>
          </a:prstGeom>
          <a:solidFill>
            <a:srgbClr val="F1F5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12" name="Link 2"/>
          <p:cNvCxnSpPr/>
          <p:nvPr/>
        </p:nvCxnSpPr>
        <p:spPr>
          <a:xfrm>
            <a:off x="1130000" y="2990000"/>
            <a:ext cx="170000" cy="0"/>
          </a:xfrm>
          <a:prstGeom prst="line">
            <a:avLst/>
          </a:prstGeom>
          <a:ln w="12700">
            <a:solidFill>
              <a:srgbClr val="B9C8DD"/>
            </a:solidFill>
            <a:prstDash val="sysDot"/>
            <a:tailEnd type="triangle" w="sm" len="sm"/>
          </a:ln>
        </p:spPr>
      </p:cxnSp>
      <p:sp>
        <p:nvSpPr>
          <p:cNvPr id="113" name="Tile 2"/>
          <p:cNvSpPr/>
          <p:nvPr/>
        </p:nvSpPr>
        <p:spPr>
          <a:xfrm>
            <a:off x="470000" y="2670000"/>
            <a:ext cx="640000" cy="640000"/>
          </a:xfrm>
          <a:prstGeom prst="roundRect">
            <a:avLst>
              <a:gd name="adj" fmla="val 21000"/>
            </a:avLst>
          </a:prstGeom>
          <a:solidFill>
            <a:srgbClr val="EA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4" name="Icon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00" y="2790000"/>
            <a:ext cx="400000" cy="400000"/>
          </a:xfrm>
          <a:prstGeom prst="rect">
            <a:avLst/>
          </a:prstGeom>
        </p:spPr>
      </p:pic>
      <p:sp>
        <p:nvSpPr>
          <p:cNvPr id="115" name="Text 2"/>
          <p:cNvSpPr txBox="1"/>
          <p:nvPr/>
        </p:nvSpPr>
        <p:spPr>
          <a:xfrm>
            <a:off x="1540000" y="2735000"/>
            <a:ext cx="10220000" cy="5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246000" indent="-246000">
              <a:lnSpc>
                <a:spcPct val="100000"/>
              </a:lnSpc>
              <a:buClr>
                <a:srgbClr val="10294F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0294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BGE-small-en-v1.5: </a:t>
            </a:r>
            <a:r>
              <a:rPr lang="en-US" sz="1400" dirty="0">
                <a:solidFill>
                  <a:srgbClr val="1F6FC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huggingface.co/CompendiumLabs/bge-small-en-v1.5-gguf</a:t>
            </a:r>
            <a:r>
              <a:rPr lang="en-US" sz="14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(MIT)</a:t>
            </a:r>
          </a:p>
          <a:p>
            <a:pPr marL="24600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Embeddings model for local semantic retrieval.</a:t>
            </a:r>
            <a:endParaRPr lang="en-US" sz="1200" dirty="0">
              <a:solidFill>
                <a:srgbClr val="3A4A5E"/>
              </a:solidFill>
              <a:latin typeface="Segoe UI" panose="020B0502040204020203" pitchFamily="34" charset="0"/>
            </a:endParaRPr>
          </a:p>
        </p:txBody>
      </p:sp>
      <p:sp>
        <p:nvSpPr>
          <p:cNvPr id="116" name="Band 3"/>
          <p:cNvSpPr/>
          <p:nvPr/>
        </p:nvSpPr>
        <p:spPr>
          <a:xfrm>
            <a:off x="1290000" y="3390000"/>
            <a:ext cx="10620000" cy="600000"/>
          </a:xfrm>
          <a:prstGeom prst="roundRect">
            <a:avLst>
              <a:gd name="adj" fmla="val 13000"/>
            </a:avLst>
          </a:prstGeom>
          <a:solidFill>
            <a:srgbClr val="F1F5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17" name="Link 3"/>
          <p:cNvCxnSpPr/>
          <p:nvPr/>
        </p:nvCxnSpPr>
        <p:spPr>
          <a:xfrm>
            <a:off x="1130000" y="3690000"/>
            <a:ext cx="170000" cy="0"/>
          </a:xfrm>
          <a:prstGeom prst="line">
            <a:avLst/>
          </a:prstGeom>
          <a:ln w="12700">
            <a:solidFill>
              <a:srgbClr val="B9C8DD"/>
            </a:solidFill>
            <a:prstDash val="sysDot"/>
            <a:tailEnd type="triangle" w="sm" len="sm"/>
          </a:ln>
        </p:spPr>
      </p:cxnSp>
      <p:sp>
        <p:nvSpPr>
          <p:cNvPr id="118" name="Tile 3"/>
          <p:cNvSpPr/>
          <p:nvPr/>
        </p:nvSpPr>
        <p:spPr>
          <a:xfrm>
            <a:off x="470000" y="3370000"/>
            <a:ext cx="640000" cy="640000"/>
          </a:xfrm>
          <a:prstGeom prst="roundRect">
            <a:avLst>
              <a:gd name="adj" fmla="val 21000"/>
            </a:avLst>
          </a:prstGeom>
          <a:solidFill>
            <a:srgbClr val="EA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co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000" y="3490000"/>
            <a:ext cx="400000" cy="400000"/>
          </a:xfrm>
          <a:prstGeom prst="rect">
            <a:avLst/>
          </a:prstGeom>
        </p:spPr>
      </p:pic>
      <p:sp>
        <p:nvSpPr>
          <p:cNvPr id="120" name="Text 3"/>
          <p:cNvSpPr txBox="1"/>
          <p:nvPr/>
        </p:nvSpPr>
        <p:spPr>
          <a:xfrm>
            <a:off x="1540000" y="3435000"/>
            <a:ext cx="10220000" cy="5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246000" indent="-246000">
              <a:lnSpc>
                <a:spcPct val="100000"/>
              </a:lnSpc>
              <a:buClr>
                <a:srgbClr val="10294F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0294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llama.cpp: </a:t>
            </a:r>
            <a:r>
              <a:rPr lang="en-US" sz="1400" dirty="0">
                <a:solidFill>
                  <a:srgbClr val="1F6FC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github.com/ggerganov/llama.cpp</a:t>
            </a:r>
            <a:r>
              <a:rPr lang="en-US" sz="14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(MIT)</a:t>
            </a:r>
          </a:p>
          <a:p>
            <a:pPr marL="24600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CPU inference runtime used for local LLM execution.</a:t>
            </a:r>
            <a:endParaRPr lang="en-US" sz="1200" dirty="0">
              <a:solidFill>
                <a:srgbClr val="3A4A5E"/>
              </a:solidFill>
              <a:latin typeface="Segoe UI" panose="020B0502040204020203" pitchFamily="34" charset="0"/>
            </a:endParaRPr>
          </a:p>
        </p:txBody>
      </p:sp>
      <p:sp>
        <p:nvSpPr>
          <p:cNvPr id="121" name="Band 4"/>
          <p:cNvSpPr/>
          <p:nvPr/>
        </p:nvSpPr>
        <p:spPr>
          <a:xfrm>
            <a:off x="1290000" y="4090000"/>
            <a:ext cx="10620000" cy="600000"/>
          </a:xfrm>
          <a:prstGeom prst="roundRect">
            <a:avLst>
              <a:gd name="adj" fmla="val 13000"/>
            </a:avLst>
          </a:prstGeom>
          <a:solidFill>
            <a:srgbClr val="F1F5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22" name="Link 4"/>
          <p:cNvCxnSpPr/>
          <p:nvPr/>
        </p:nvCxnSpPr>
        <p:spPr>
          <a:xfrm>
            <a:off x="1130000" y="4390000"/>
            <a:ext cx="170000" cy="0"/>
          </a:xfrm>
          <a:prstGeom prst="line">
            <a:avLst/>
          </a:prstGeom>
          <a:ln w="12700">
            <a:solidFill>
              <a:srgbClr val="B9C8DD"/>
            </a:solidFill>
            <a:prstDash val="sysDot"/>
            <a:tailEnd type="triangle" w="sm" len="sm"/>
          </a:ln>
        </p:spPr>
      </p:cxnSp>
      <p:sp>
        <p:nvSpPr>
          <p:cNvPr id="123" name="Tile 4"/>
          <p:cNvSpPr/>
          <p:nvPr/>
        </p:nvSpPr>
        <p:spPr>
          <a:xfrm>
            <a:off x="470000" y="4070000"/>
            <a:ext cx="640000" cy="640000"/>
          </a:xfrm>
          <a:prstGeom prst="roundRect">
            <a:avLst>
              <a:gd name="adj" fmla="val 21000"/>
            </a:avLst>
          </a:prstGeom>
          <a:solidFill>
            <a:srgbClr val="EA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4" name="Icon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000" y="4190000"/>
            <a:ext cx="400000" cy="400000"/>
          </a:xfrm>
          <a:prstGeom prst="rect">
            <a:avLst/>
          </a:prstGeom>
        </p:spPr>
      </p:pic>
      <p:sp>
        <p:nvSpPr>
          <p:cNvPr id="125" name="Text 4"/>
          <p:cNvSpPr txBox="1"/>
          <p:nvPr/>
        </p:nvSpPr>
        <p:spPr>
          <a:xfrm>
            <a:off x="1540000" y="4135000"/>
            <a:ext cx="10220000" cy="5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246000" indent="-246000">
              <a:lnSpc>
                <a:spcPct val="100000"/>
              </a:lnSpc>
              <a:buClr>
                <a:srgbClr val="10294F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0294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libp2p: </a:t>
            </a:r>
            <a:r>
              <a:rPr lang="en-US" sz="1400" dirty="0">
                <a:solidFill>
                  <a:srgbClr val="1F6FC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libp2p.io</a:t>
            </a:r>
          </a:p>
          <a:p>
            <a:pPr marL="24600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Peer-to-peer networking stack (QUIC transport, mDNS discovery).</a:t>
            </a:r>
            <a:endParaRPr lang="en-US" sz="1200" dirty="0">
              <a:solidFill>
                <a:srgbClr val="3A4A5E"/>
              </a:solidFill>
              <a:latin typeface="Segoe UI" panose="020B0502040204020203" pitchFamily="34" charset="0"/>
            </a:endParaRPr>
          </a:p>
        </p:txBody>
      </p:sp>
      <p:sp>
        <p:nvSpPr>
          <p:cNvPr id="126" name="Band 5"/>
          <p:cNvSpPr/>
          <p:nvPr/>
        </p:nvSpPr>
        <p:spPr>
          <a:xfrm>
            <a:off x="1290000" y="4790000"/>
            <a:ext cx="10620000" cy="600000"/>
          </a:xfrm>
          <a:prstGeom prst="roundRect">
            <a:avLst>
              <a:gd name="adj" fmla="val 13000"/>
            </a:avLst>
          </a:prstGeom>
          <a:solidFill>
            <a:srgbClr val="F1F5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27" name="Link 5"/>
          <p:cNvCxnSpPr/>
          <p:nvPr/>
        </p:nvCxnSpPr>
        <p:spPr>
          <a:xfrm>
            <a:off x="1130000" y="5090000"/>
            <a:ext cx="170000" cy="0"/>
          </a:xfrm>
          <a:prstGeom prst="line">
            <a:avLst/>
          </a:prstGeom>
          <a:ln w="12700">
            <a:solidFill>
              <a:srgbClr val="B9C8DD"/>
            </a:solidFill>
            <a:prstDash val="sysDot"/>
            <a:tailEnd type="triangle" w="sm" len="sm"/>
          </a:ln>
        </p:spPr>
      </p:cxnSp>
      <p:sp>
        <p:nvSpPr>
          <p:cNvPr id="128" name="Tile 5"/>
          <p:cNvSpPr/>
          <p:nvPr/>
        </p:nvSpPr>
        <p:spPr>
          <a:xfrm>
            <a:off x="470000" y="4770000"/>
            <a:ext cx="640000" cy="640000"/>
          </a:xfrm>
          <a:prstGeom prst="roundRect">
            <a:avLst>
              <a:gd name="adj" fmla="val 21000"/>
            </a:avLst>
          </a:prstGeom>
          <a:solidFill>
            <a:srgbClr val="EA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9" name="Icon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000" y="4890000"/>
            <a:ext cx="400000" cy="400000"/>
          </a:xfrm>
          <a:prstGeom prst="rect">
            <a:avLst/>
          </a:prstGeom>
        </p:spPr>
      </p:pic>
      <p:sp>
        <p:nvSpPr>
          <p:cNvPr id="130" name="Text 5"/>
          <p:cNvSpPr txBox="1"/>
          <p:nvPr/>
        </p:nvSpPr>
        <p:spPr>
          <a:xfrm>
            <a:off x="1540000" y="4835000"/>
            <a:ext cx="10220000" cy="5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246000" indent="-246000">
              <a:lnSpc>
                <a:spcPct val="100000"/>
              </a:lnSpc>
              <a:buClr>
                <a:srgbClr val="10294F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0294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NVIDIA Jetson Linux Developer Guide: </a:t>
            </a:r>
            <a:r>
              <a:rPr lang="en-US" sz="1400" dirty="0">
                <a:solidFill>
                  <a:srgbClr val="1F6FC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docs.nvidia.com/jetson</a:t>
            </a:r>
          </a:p>
          <a:p>
            <a:pPr marL="24600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OP-TEE, Secure Boot, Firmware TPM guidance.</a:t>
            </a:r>
            <a:endParaRPr lang="en-US" sz="1200" dirty="0">
              <a:solidFill>
                <a:srgbClr val="3A4A5E"/>
              </a:solidFill>
              <a:latin typeface="Segoe UI" panose="020B0502040204020203" pitchFamily="34" charset="0"/>
            </a:endParaRPr>
          </a:p>
        </p:txBody>
      </p:sp>
      <p:sp>
        <p:nvSpPr>
          <p:cNvPr id="131" name="Band 6"/>
          <p:cNvSpPr/>
          <p:nvPr/>
        </p:nvSpPr>
        <p:spPr>
          <a:xfrm>
            <a:off x="1290000" y="5490000"/>
            <a:ext cx="10620000" cy="600000"/>
          </a:xfrm>
          <a:prstGeom prst="roundRect">
            <a:avLst>
              <a:gd name="adj" fmla="val 13000"/>
            </a:avLst>
          </a:prstGeom>
          <a:solidFill>
            <a:srgbClr val="F1F5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132" name="Link 6"/>
          <p:cNvCxnSpPr/>
          <p:nvPr/>
        </p:nvCxnSpPr>
        <p:spPr>
          <a:xfrm>
            <a:off x="1130000" y="5790000"/>
            <a:ext cx="170000" cy="0"/>
          </a:xfrm>
          <a:prstGeom prst="line">
            <a:avLst/>
          </a:prstGeom>
          <a:ln w="12700">
            <a:solidFill>
              <a:srgbClr val="B9C8DD"/>
            </a:solidFill>
            <a:prstDash val="sysDot"/>
            <a:tailEnd type="triangle" w="sm" len="sm"/>
          </a:ln>
        </p:spPr>
      </p:cxnSp>
      <p:sp>
        <p:nvSpPr>
          <p:cNvPr id="133" name="Tile 6"/>
          <p:cNvSpPr/>
          <p:nvPr/>
        </p:nvSpPr>
        <p:spPr>
          <a:xfrm>
            <a:off x="470000" y="5470000"/>
            <a:ext cx="640000" cy="640000"/>
          </a:xfrm>
          <a:prstGeom prst="roundRect">
            <a:avLst>
              <a:gd name="adj" fmla="val 21000"/>
            </a:avLst>
          </a:prstGeom>
          <a:solidFill>
            <a:srgbClr val="EAF0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4" name="Icon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000" y="5590000"/>
            <a:ext cx="400000" cy="400000"/>
          </a:xfrm>
          <a:prstGeom prst="rect">
            <a:avLst/>
          </a:prstGeom>
        </p:spPr>
      </p:pic>
      <p:sp>
        <p:nvSpPr>
          <p:cNvPr id="135" name="Text 6"/>
          <p:cNvSpPr txBox="1"/>
          <p:nvPr/>
        </p:nvSpPr>
        <p:spPr>
          <a:xfrm>
            <a:off x="1540000" y="5535000"/>
            <a:ext cx="10220000" cy="5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246000" indent="-246000">
              <a:lnSpc>
                <a:spcPct val="100000"/>
              </a:lnSpc>
              <a:buClr>
                <a:srgbClr val="10294F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0294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OP-TEE: </a:t>
            </a:r>
            <a:r>
              <a:rPr lang="en-US" sz="1400" dirty="0">
                <a:solidFill>
                  <a:srgbClr val="1F6FC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optee.readthedocs.io</a:t>
            </a:r>
          </a:p>
          <a:p>
            <a:pPr marL="24600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dirty="0">
                <a:solidFill>
                  <a:srgbClr val="3A4A5E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Open-source TrustZone trusted execution environment.</a:t>
            </a:r>
            <a:endParaRPr lang="en-US" sz="1200" dirty="0">
              <a:solidFill>
                <a:srgbClr val="3A4A5E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0287" y="132668"/>
            <a:ext cx="8792000" cy="800000"/>
          </a:xfrm>
        </p:spPr>
        <p:txBody>
          <a:bodyPr anchor="ctr">
            <a:normAutofit/>
          </a:bodyPr>
          <a:lstStyle/>
          <a:p>
            <a:pPr algn="ctr"/>
            <a:r>
              <a:rPr lang="en-US" sz="4000" b="1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&amp; REFERENCES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Subtitle"/>
          <p:cNvSpPr txBox="1"/>
          <p:nvPr/>
        </p:nvSpPr>
        <p:spPr>
          <a:xfrm>
            <a:off x="2600000" y="935000"/>
            <a:ext cx="6992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600" dirty="0">
                <a:latin typeface="Segoe UI" panose="020B0502040204020203" pitchFamily="34" charset="0"/>
                <a:cs typeface="Segoe UI" panose="020B0502040204020203" pitchFamily="34" charset="0"/>
              </a:rPr>
              <a:t>Built on trusted open-source technologies and standards.</a:t>
            </a:r>
            <a:endParaRPr lang="en-US" sz="1600" dirty="0">
              <a:latin typeface="Segoe UI" panose="020B0502040204020203" pitchFamily="34" charset="0"/>
            </a:endParaRPr>
          </a:p>
        </p:txBody>
      </p:sp>
      <p:cxnSp>
        <p:nvCxnSpPr>
          <p:cNvPr id="137" name="Rule"/>
          <p:cNvCxnSpPr/>
          <p:nvPr/>
        </p:nvCxnSpPr>
        <p:spPr>
          <a:xfrm>
            <a:off x="2450000" y="1095000"/>
            <a:ext cx="760000" cy="0"/>
          </a:xfrm>
          <a:prstGeom prst="line">
            <a:avLst/>
          </a:prstGeom>
          <a:ln w="15875">
            <a:solidFill>
              <a:srgbClr val="1F6FC4"/>
            </a:solidFill>
            <a:headEnd type="diamond" w="sm" len="sm"/>
            <a:tailEnd type="diamond" w="sm" len="sm"/>
          </a:ln>
        </p:spPr>
      </p:cxnSp>
      <p:cxnSp>
        <p:nvCxnSpPr>
          <p:cNvPr id="138" name="Rule"/>
          <p:cNvCxnSpPr/>
          <p:nvPr/>
        </p:nvCxnSpPr>
        <p:spPr>
          <a:xfrm>
            <a:off x="8982000" y="1095000"/>
            <a:ext cx="760000" cy="0"/>
          </a:xfrm>
          <a:prstGeom prst="line">
            <a:avLst/>
          </a:prstGeom>
          <a:ln w="15875">
            <a:solidFill>
              <a:srgbClr val="1F6FC4"/>
            </a:solidFill>
            <a:headEnd type="diamond" w="sm" len="sm"/>
            <a:tailEnd type="diamond" w="sm" len="sm"/>
          </a:ln>
        </p:spPr>
      </p:cxn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/>
          <p:cNvSpPr/>
          <p:nvPr/>
        </p:nvSpPr>
        <p:spPr>
          <a:xfrm>
            <a:off x="329773" y="256503"/>
            <a:ext cx="1251857" cy="80733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50000"/>
              </a:schemeClr>
            </a:solidFill>
          </a:ln>
          <a:effectLst>
            <a:glow rad="101600">
              <a:schemeClr val="accent5">
                <a:lumMod val="50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Impact" panose="020B0806030902050204" pitchFamily="34" charset="0"/>
              </a:rPr>
              <a:t>OUTLAWS</a:t>
            </a:r>
            <a:endParaRPr lang="en-IN" sz="1400" dirty="0">
              <a:solidFill>
                <a:schemeClr val="tx1"/>
              </a:solidFill>
              <a:latin typeface="Impact" panose="020B0806030902050204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381AA6-CCB0-B15A-5A3B-999E33C1EF6F}"/>
              </a:ext>
            </a:extLst>
          </p:cNvPr>
          <p:cNvCxnSpPr/>
          <p:nvPr/>
        </p:nvCxnSpPr>
        <p:spPr>
          <a:xfrm>
            <a:off x="329773" y="1270000"/>
            <a:ext cx="0" cy="4820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7918</TotalTime>
  <Words>403</Words>
  <Application>Microsoft Office PowerPoint</Application>
  <PresentationFormat>Widescreen</PresentationFormat>
  <Paragraphs>75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20" baseType="lpstr">
      <vt:lpstr>ＭＳ Ｐゴシック</vt:lpstr>
      <vt:lpstr>Arial</vt:lpstr>
      <vt:lpstr>Calibri</vt:lpstr>
      <vt:lpstr>Cambria</vt:lpstr>
      <vt:lpstr>Garamond</vt:lpstr>
      <vt:lpstr>Impact</vt:lpstr>
      <vt:lpstr>Inter</vt:lpstr>
      <vt:lpstr>Inter SemiBold</vt:lpstr>
      <vt:lpstr>Segoe UI</vt:lpstr>
      <vt:lpstr>Space Grotesk</vt:lpstr>
      <vt:lpstr>Times New Roman</vt:lpstr>
      <vt:lpstr>TradeGothic</vt:lpstr>
      <vt:lpstr>Wingdings</vt:lpstr>
      <vt:lpstr>Office Theme</vt:lpstr>
      <vt:lpstr>SMART INDIA HACKATHON 2026</vt:lpstr>
      <vt:lpstr>Secure Mesh- Private, Offline, Trusted, Intelligent</vt:lpstr>
      <vt:lpstr>TECHNICAL APPROACH</vt:lpstr>
      <vt:lpstr>FEASIBILITY AND VIABILITY</vt:lpstr>
      <vt:lpstr>IMPACT AND BENEFITS</vt:lpstr>
      <vt:lpstr>RESEARCH &amp;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Rounak Samanta</cp:lastModifiedBy>
  <cp:revision>173</cp:revision>
  <dcterms:created xsi:type="dcterms:W3CDTF">2013-12-12T18:46:50Z</dcterms:created>
  <dcterms:modified xsi:type="dcterms:W3CDTF">2026-09-22T16:47:37Z</dcterms:modified>
  <cp:category/>
</cp:coreProperties>
</file>