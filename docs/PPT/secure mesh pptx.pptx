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FEF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60" autoAdjust="0"/>
  </p:normalViewPr>
  <p:slideViewPr>
    <p:cSldViewPr snapToGrid="0" snapToObjects="1">
      <p:cViewPr varScale="1">
        <p:scale>
          <a:sx n="111" d="100"/>
          <a:sy n="111" d="100"/>
        </p:scale>
        <p:origin x="558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microsoft.com/office/2007/relationships/hdphoto" Target="../media/hdphoto1.wdp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389580" y="673393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MESH</a:t>
            </a:r>
            <a:endParaRPr lang="en-IN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2468" y="1649174"/>
            <a:ext cx="5853276" cy="4715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26223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Student innovation –</a:t>
            </a:r>
          </a:p>
          <a:p>
            <a:pPr>
              <a:lnSpc>
                <a:spcPct val="20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 Disaster Management includes ideas related to </a:t>
            </a:r>
          </a:p>
          <a:p>
            <a:pPr>
              <a:lnSpc>
                <a:spcPct val="20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 risk  mitigation, Planning and management</a:t>
            </a:r>
          </a:p>
          <a:p>
            <a:pPr>
              <a:lnSpc>
                <a:spcPct val="20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 before ,after or during a disaster.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Theme- Disaster Management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PS Category- 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Name- Outlaws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147028" y="16262"/>
            <a:ext cx="9046727" cy="1162518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Secure Mesh- Private, Offline, Trusted, Intelligent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50803" y="1136396"/>
            <a:ext cx="293623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rPr>
              <a:t>Proposed Solution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b="1" u="sng" dirty="0">
              <a:solidFill>
                <a:schemeClr val="tx2"/>
              </a:solidFill>
              <a:latin typeface="Cambria" panose="02040503050406030204" pitchFamily="18" charset="0"/>
              <a:ea typeface="Cambria" panose="02040503050406030204" pitchFamily="18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6503"/>
            <a:ext cx="1251857" cy="80733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50000"/>
              </a:schemeClr>
            </a:solidFill>
          </a:ln>
          <a:effectLst>
            <a:glow rad="101600">
              <a:schemeClr val="accent5">
                <a:lumMod val="50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Impact" panose="020B0806030902050204" pitchFamily="34" charset="0"/>
              </a:rPr>
              <a:t>OUTLAWS</a:t>
            </a:r>
            <a:endParaRPr lang="en-IN" sz="14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152" y="0"/>
            <a:ext cx="2249850" cy="1062337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384048" y="1874519"/>
            <a:ext cx="2718739" cy="3246120"/>
          </a:xfrm>
          <a:prstGeom prst="roundRect">
            <a:avLst>
              <a:gd name="adj" fmla="val 5000"/>
            </a:avLst>
          </a:prstGeom>
          <a:solidFill>
            <a:srgbClr val="E9F5F6"/>
          </a:solidFill>
          <a:ln w="12700">
            <a:solidFill>
              <a:srgbClr val="C9E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4" name="Round Same Side Corner Rectangle 15363"/>
          <p:cNvSpPr/>
          <p:nvPr/>
        </p:nvSpPr>
        <p:spPr>
          <a:xfrm>
            <a:off x="384048" y="1874519"/>
            <a:ext cx="2718739" cy="566928"/>
          </a:xfrm>
          <a:prstGeom prst="round2SameRect">
            <a:avLst>
              <a:gd name="adj1" fmla="val 34000"/>
              <a:gd name="adj2" fmla="val 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Oval 15364"/>
          <p:cNvSpPr/>
          <p:nvPr/>
        </p:nvSpPr>
        <p:spPr>
          <a:xfrm>
            <a:off x="502920" y="2157983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>
                <a:latin typeface="Segoe UI Emoji"/>
              </a:rPr>
              <a:t>📴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1179576" y="1874519"/>
            <a:ext cx="1831771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Calibri"/>
              </a:rPr>
              <a:t>OFFLINE FIRST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585216" y="2871215"/>
            <a:ext cx="2316403" cy="1865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100" b="1">
                <a:solidFill>
                  <a:srgbClr val="222222"/>
                </a:solidFill>
                <a:latin typeface="Calibri"/>
              </a:rPr>
              <a:t>Local Sync</a:t>
            </a:r>
          </a:p>
          <a:p>
            <a:pPr>
              <a:spcAft>
                <a:spcPts val="1000"/>
              </a:spcAft>
            </a:pPr>
            <a:r>
              <a:rPr sz="950">
                <a:solidFill>
                  <a:srgbClr val="5A5A5A"/>
                </a:solidFill>
                <a:latin typeface="Calibri"/>
              </a:rPr>
              <a:t>Communicates, stores, and syncs all data locally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222222"/>
                </a:solidFill>
                <a:latin typeface="Calibri"/>
              </a:rPr>
              <a:t>Zero Cloud</a:t>
            </a:r>
          </a:p>
          <a:p>
            <a:pPr>
              <a:spcAft>
                <a:spcPts val="1000"/>
              </a:spcAft>
            </a:pPr>
            <a:r>
              <a:rPr sz="950">
                <a:solidFill>
                  <a:srgbClr val="5A5A5A"/>
                </a:solidFill>
                <a:latin typeface="Calibri"/>
              </a:rPr>
              <a:t>Fully functional with no cloud dependency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585216" y="4791455"/>
            <a:ext cx="23164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i="1" b="1">
                <a:solidFill>
                  <a:srgbClr val="0E7C86"/>
                </a:solidFill>
                <a:latin typeface="Calibri"/>
              </a:rPr>
              <a:t>Works even with no visible peers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3285667" y="1874519"/>
            <a:ext cx="2718739" cy="3246120"/>
          </a:xfrm>
          <a:prstGeom prst="roundRect">
            <a:avLst>
              <a:gd name="adj" fmla="val 5000"/>
            </a:avLst>
          </a:prstGeom>
          <a:solidFill>
            <a:srgbClr val="EAF7F1"/>
          </a:solidFill>
          <a:ln w="12700">
            <a:solidFill>
              <a:srgbClr val="CBE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0" name="Round Same Side Corner Rectangle 15369"/>
          <p:cNvSpPr/>
          <p:nvPr/>
        </p:nvSpPr>
        <p:spPr>
          <a:xfrm>
            <a:off x="3285667" y="1874519"/>
            <a:ext cx="2718739" cy="566928"/>
          </a:xfrm>
          <a:prstGeom prst="round2SameRect">
            <a:avLst>
              <a:gd name="adj1" fmla="val 34000"/>
              <a:gd name="adj2" fmla="val 0"/>
            </a:avLst>
          </a:prstGeom>
          <a:solidFill>
            <a:srgbClr val="105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1" name="Oval 15370"/>
          <p:cNvSpPr/>
          <p:nvPr/>
        </p:nvSpPr>
        <p:spPr>
          <a:xfrm>
            <a:off x="3404539" y="2157983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05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372" name="Connector 15371"/>
          <p:cNvCxnSpPr/>
          <p:nvPr/>
        </p:nvCxnSpPr>
        <p:spPr>
          <a:xfrm>
            <a:off x="3688003" y="2299715"/>
            <a:ext cx="122743" cy="212597"/>
          </a:xfrm>
          <a:prstGeom prst="line">
            <a:avLst/>
          </a:prstGeom>
          <a:ln w="15875">
            <a:solidFill>
              <a:srgbClr val="105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73" name="Connector 15372"/>
          <p:cNvCxnSpPr/>
          <p:nvPr/>
        </p:nvCxnSpPr>
        <p:spPr>
          <a:xfrm flipH="1">
            <a:off x="3565260" y="2512312"/>
            <a:ext cx="245486" cy="0"/>
          </a:xfrm>
          <a:prstGeom prst="line">
            <a:avLst/>
          </a:prstGeom>
          <a:ln w="15875">
            <a:solidFill>
              <a:srgbClr val="105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74" name="Connector 15373"/>
          <p:cNvCxnSpPr/>
          <p:nvPr/>
        </p:nvCxnSpPr>
        <p:spPr>
          <a:xfrm flipV="1">
            <a:off x="3565260" y="2299715"/>
            <a:ext cx="122743" cy="212597"/>
          </a:xfrm>
          <a:prstGeom prst="line">
            <a:avLst/>
          </a:prstGeom>
          <a:ln w="15875">
            <a:solidFill>
              <a:srgbClr val="105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5" name="Oval 15374"/>
          <p:cNvSpPr/>
          <p:nvPr/>
        </p:nvSpPr>
        <p:spPr>
          <a:xfrm>
            <a:off x="3636980" y="2248692"/>
            <a:ext cx="102046" cy="102046"/>
          </a:xfrm>
          <a:prstGeom prst="ellipse">
            <a:avLst/>
          </a:prstGeom>
          <a:solidFill>
            <a:srgbClr val="105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6" name="Oval 15375"/>
          <p:cNvSpPr/>
          <p:nvPr/>
        </p:nvSpPr>
        <p:spPr>
          <a:xfrm>
            <a:off x="3759723" y="2461289"/>
            <a:ext cx="102046" cy="102046"/>
          </a:xfrm>
          <a:prstGeom prst="ellipse">
            <a:avLst/>
          </a:prstGeom>
          <a:solidFill>
            <a:srgbClr val="105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7" name="Oval 15376"/>
          <p:cNvSpPr/>
          <p:nvPr/>
        </p:nvSpPr>
        <p:spPr>
          <a:xfrm>
            <a:off x="3514237" y="2461289"/>
            <a:ext cx="102046" cy="102046"/>
          </a:xfrm>
          <a:prstGeom prst="ellipse">
            <a:avLst/>
          </a:prstGeom>
          <a:solidFill>
            <a:srgbClr val="105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8" name="TextBox 15377"/>
          <p:cNvSpPr txBox="1"/>
          <p:nvPr/>
        </p:nvSpPr>
        <p:spPr>
          <a:xfrm>
            <a:off x="4081195" y="1874519"/>
            <a:ext cx="1831771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Calibri"/>
              </a:rPr>
              <a:t>DECENTRALIZED MESH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3486835" y="2871215"/>
            <a:ext cx="2316403" cy="1865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100" b="1">
                <a:solidFill>
                  <a:srgbClr val="222222"/>
                </a:solidFill>
                <a:latin typeface="Calibri"/>
              </a:rPr>
              <a:t>Peer Discovery</a:t>
            </a:r>
          </a:p>
          <a:p>
            <a:pPr>
              <a:spcAft>
                <a:spcPts val="1000"/>
              </a:spcAft>
            </a:pPr>
            <a:r>
              <a:rPr sz="950">
                <a:solidFill>
                  <a:srgbClr val="5A5A5A"/>
                </a:solidFill>
                <a:latin typeface="Calibri"/>
              </a:rPr>
              <a:t>mDNS + QUIC + Ed25519 authentication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222222"/>
                </a:solidFill>
                <a:latin typeface="Calibri"/>
              </a:rPr>
              <a:t>Signed Event Log</a:t>
            </a:r>
          </a:p>
          <a:p>
            <a:pPr>
              <a:spcAft>
                <a:spcPts val="1000"/>
              </a:spcAft>
            </a:pPr>
            <a:r>
              <a:rPr sz="950">
                <a:solidFill>
                  <a:srgbClr val="5A5A5A"/>
                </a:solidFill>
                <a:latin typeface="Calibri"/>
              </a:rPr>
              <a:t>Append-only, origin sequence order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3486835" y="4791455"/>
            <a:ext cx="23164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i="1" b="1">
                <a:solidFill>
                  <a:srgbClr val="105D3D"/>
                </a:solidFill>
                <a:latin typeface="Calibri"/>
              </a:rPr>
              <a:t>Built for availability under partition</a:t>
            </a:r>
          </a:p>
        </p:txBody>
      </p:sp>
      <p:sp>
        <p:nvSpPr>
          <p:cNvPr id="15381" name="Rounded Rectangle 15380"/>
          <p:cNvSpPr/>
          <p:nvPr/>
        </p:nvSpPr>
        <p:spPr>
          <a:xfrm>
            <a:off x="6187286" y="1874519"/>
            <a:ext cx="2718739" cy="3246120"/>
          </a:xfrm>
          <a:prstGeom prst="roundRect">
            <a:avLst>
              <a:gd name="adj" fmla="val 5000"/>
            </a:avLst>
          </a:prstGeom>
          <a:solidFill>
            <a:srgbClr val="ECEDF8"/>
          </a:solidFill>
          <a:ln w="12700">
            <a:solidFill>
              <a:srgbClr val="CED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2" name="Round Same Side Corner Rectangle 15381"/>
          <p:cNvSpPr/>
          <p:nvPr/>
        </p:nvSpPr>
        <p:spPr>
          <a:xfrm>
            <a:off x="6187286" y="1874519"/>
            <a:ext cx="2718739" cy="566928"/>
          </a:xfrm>
          <a:prstGeom prst="round2SameRect">
            <a:avLst>
              <a:gd name="adj1" fmla="val 34000"/>
              <a:gd name="adj2" fmla="val 0"/>
            </a:avLst>
          </a:prstGeom>
          <a:solidFill>
            <a:srgbClr val="3E4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3" name="Oval 15382"/>
          <p:cNvSpPr/>
          <p:nvPr/>
        </p:nvSpPr>
        <p:spPr>
          <a:xfrm>
            <a:off x="6306158" y="2157983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3E4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>
                <a:latin typeface="Segoe UI Emoji"/>
              </a:rPr>
              <a:t>🛡</a:t>
            </a:r>
          </a:p>
        </p:txBody>
      </p:sp>
      <p:sp>
        <p:nvSpPr>
          <p:cNvPr id="15384" name="TextBox 15383"/>
          <p:cNvSpPr txBox="1"/>
          <p:nvPr/>
        </p:nvSpPr>
        <p:spPr>
          <a:xfrm>
            <a:off x="6982814" y="1874519"/>
            <a:ext cx="1831771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Calibri"/>
              </a:rPr>
              <a:t>ZERO-TRUST SECURITY</a:t>
            </a:r>
          </a:p>
        </p:txBody>
      </p:sp>
      <p:sp>
        <p:nvSpPr>
          <p:cNvPr id="15385" name="TextBox 15384"/>
          <p:cNvSpPr txBox="1"/>
          <p:nvPr/>
        </p:nvSpPr>
        <p:spPr>
          <a:xfrm>
            <a:off x="6388454" y="2871215"/>
            <a:ext cx="2316403" cy="1865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100" b="1">
                <a:solidFill>
                  <a:srgbClr val="222222"/>
                </a:solidFill>
                <a:latin typeface="Calibri"/>
              </a:rPr>
              <a:t>Explicit Auth</a:t>
            </a:r>
          </a:p>
          <a:p>
            <a:pPr>
              <a:spcAft>
                <a:spcPts val="1000"/>
              </a:spcAft>
            </a:pPr>
            <a:r>
              <a:rPr sz="950">
                <a:solidFill>
                  <a:srgbClr val="5A5A5A"/>
                </a:solidFill>
                <a:latin typeface="Calibri"/>
              </a:rPr>
              <a:t>Authenticated before any peer exchange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222222"/>
                </a:solidFill>
                <a:latin typeface="Calibri"/>
              </a:rPr>
              <a:t>Rust Enforced</a:t>
            </a:r>
          </a:p>
          <a:p>
            <a:pPr>
              <a:spcAft>
                <a:spcPts val="1000"/>
              </a:spcAft>
            </a:pPr>
            <a:r>
              <a:rPr sz="950">
                <a:solidFill>
                  <a:srgbClr val="5A5A5A"/>
                </a:solidFill>
                <a:latin typeface="Calibri"/>
              </a:rPr>
              <a:t>Trust state checked on every message</a:t>
            </a:r>
          </a:p>
        </p:txBody>
      </p:sp>
      <p:sp>
        <p:nvSpPr>
          <p:cNvPr id="15386" name="TextBox 15385"/>
          <p:cNvSpPr txBox="1"/>
          <p:nvPr/>
        </p:nvSpPr>
        <p:spPr>
          <a:xfrm>
            <a:off x="6388454" y="4791455"/>
            <a:ext cx="23164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i="1" b="1">
                <a:solidFill>
                  <a:srgbClr val="3E4C9C"/>
                </a:solidFill>
                <a:latin typeface="Calibri"/>
              </a:rPr>
              <a:t>Authentication alone grants nothing</a:t>
            </a:r>
          </a:p>
        </p:txBody>
      </p:sp>
      <p:sp>
        <p:nvSpPr>
          <p:cNvPr id="15387" name="Rounded Rectangle 15386"/>
          <p:cNvSpPr/>
          <p:nvPr/>
        </p:nvSpPr>
        <p:spPr>
          <a:xfrm>
            <a:off x="9088905" y="1874519"/>
            <a:ext cx="2718739" cy="3246120"/>
          </a:xfrm>
          <a:prstGeom prst="roundRect">
            <a:avLst>
              <a:gd name="adj" fmla="val 5000"/>
            </a:avLst>
          </a:prstGeom>
          <a:solidFill>
            <a:srgbClr val="F3ECF8"/>
          </a:solidFill>
          <a:ln w="12700">
            <a:solidFill>
              <a:srgbClr val="E0C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8" name="Round Same Side Corner Rectangle 15387"/>
          <p:cNvSpPr/>
          <p:nvPr/>
        </p:nvSpPr>
        <p:spPr>
          <a:xfrm>
            <a:off x="9088905" y="1874519"/>
            <a:ext cx="2718739" cy="566928"/>
          </a:xfrm>
          <a:prstGeom prst="round2SameRect">
            <a:avLst>
              <a:gd name="adj1" fmla="val 34000"/>
              <a:gd name="adj2" fmla="val 0"/>
            </a:avLst>
          </a:prstGeom>
          <a:solidFill>
            <a:srgbClr val="7A3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9" name="Oval 15388"/>
          <p:cNvSpPr/>
          <p:nvPr/>
        </p:nvSpPr>
        <p:spPr>
          <a:xfrm>
            <a:off x="9207777" y="2157983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7A3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>
                <a:latin typeface="Segoe UI Emoji"/>
              </a:rPr>
              <a:t>🧠</a:t>
            </a:r>
          </a:p>
        </p:txBody>
      </p:sp>
      <p:sp>
        <p:nvSpPr>
          <p:cNvPr id="15390" name="TextBox 15389"/>
          <p:cNvSpPr txBox="1"/>
          <p:nvPr/>
        </p:nvSpPr>
        <p:spPr>
          <a:xfrm>
            <a:off x="9884433" y="1874519"/>
            <a:ext cx="1831771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Calibri"/>
              </a:rPr>
              <a:t>LOCAL &amp; GROUNDED AI</a:t>
            </a:r>
          </a:p>
        </p:txBody>
      </p:sp>
      <p:sp>
        <p:nvSpPr>
          <p:cNvPr id="15391" name="TextBox 15390"/>
          <p:cNvSpPr txBox="1"/>
          <p:nvPr/>
        </p:nvSpPr>
        <p:spPr>
          <a:xfrm>
            <a:off x="9290073" y="2871215"/>
            <a:ext cx="2316403" cy="1865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100" b="1">
                <a:solidFill>
                  <a:srgbClr val="222222"/>
                </a:solidFill>
                <a:latin typeface="Calibri"/>
              </a:rPr>
              <a:t>On-Device</a:t>
            </a:r>
          </a:p>
          <a:p>
            <a:pPr>
              <a:spcAft>
                <a:spcPts val="1000"/>
              </a:spcAft>
            </a:pPr>
            <a:r>
              <a:rPr sz="950">
                <a:solidFill>
                  <a:srgbClr val="5A5A5A"/>
                </a:solidFill>
                <a:latin typeface="Calibri"/>
              </a:rPr>
              <a:t>Qwen2.5-1.5B + BGE embeddings via llama.cpp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222222"/>
                </a:solidFill>
                <a:latin typeface="Calibri"/>
              </a:rPr>
              <a:t>Citations</a:t>
            </a:r>
          </a:p>
          <a:p>
            <a:pPr>
              <a:spcAft>
                <a:spcPts val="1000"/>
              </a:spcAft>
            </a:pPr>
            <a:r>
              <a:rPr sz="950">
                <a:solidFill>
                  <a:srgbClr val="5A5A5A"/>
                </a:solidFill>
                <a:latin typeface="Calibri"/>
              </a:rPr>
              <a:t>Answers grounded in local data (0/19 → 19/19)</a:t>
            </a:r>
          </a:p>
        </p:txBody>
      </p:sp>
      <p:sp>
        <p:nvSpPr>
          <p:cNvPr id="15392" name="TextBox 15391"/>
          <p:cNvSpPr txBox="1"/>
          <p:nvPr/>
        </p:nvSpPr>
        <p:spPr>
          <a:xfrm>
            <a:off x="9290073" y="4791455"/>
            <a:ext cx="23164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i="1" b="1">
                <a:solidFill>
                  <a:srgbClr val="7A3E9C"/>
                </a:solidFill>
                <a:latin typeface="Calibri"/>
              </a:rPr>
              <a:t>Grounded answers. No guessing.</a:t>
            </a:r>
          </a:p>
        </p:txBody>
      </p:sp>
      <p:sp>
        <p:nvSpPr>
          <p:cNvPr id="15393" name="Rounded Rectangle 15392"/>
          <p:cNvSpPr/>
          <p:nvPr/>
        </p:nvSpPr>
        <p:spPr>
          <a:xfrm>
            <a:off x="384048" y="5303519"/>
            <a:ext cx="11423599" cy="566928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4" name="TextBox 15393"/>
          <p:cNvSpPr txBox="1"/>
          <p:nvPr/>
        </p:nvSpPr>
        <p:spPr>
          <a:xfrm>
            <a:off x="566928" y="5303519"/>
            <a:ext cx="1965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>
                <a:latin typeface="Segoe UI Emoji"/>
              </a:rPr>
              <a:t>✅  </a:t>
            </a:r>
            <a:r>
              <a:rPr sz="1250" b="1">
                <a:solidFill>
                  <a:srgbClr val="3B4A5A"/>
                </a:solidFill>
                <a:latin typeface="Calibri"/>
              </a:rPr>
              <a:t>PROOF, NOT PITCH</a:t>
            </a:r>
          </a:p>
        </p:txBody>
      </p:sp>
      <p:sp>
        <p:nvSpPr>
          <p:cNvPr id="15395" name="Rectangle 15394"/>
          <p:cNvSpPr/>
          <p:nvPr/>
        </p:nvSpPr>
        <p:spPr>
          <a:xfrm>
            <a:off x="2395728" y="5413247"/>
            <a:ext cx="9525" cy="3474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6" name="TextBox 15395"/>
          <p:cNvSpPr txBox="1"/>
          <p:nvPr/>
        </p:nvSpPr>
        <p:spPr>
          <a:xfrm>
            <a:off x="2624328" y="5303519"/>
            <a:ext cx="306110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>
                <a:latin typeface="Segoe UI Emoji"/>
              </a:rPr>
              <a:t>🧪  </a:t>
            </a:r>
            <a:r>
              <a:rPr sz="1250" b="1">
                <a:solidFill>
                  <a:srgbClr val="3B4A5A"/>
                </a:solidFill>
                <a:latin typeface="Calibri"/>
              </a:rPr>
              <a:t>759 </a:t>
            </a:r>
            <a:r>
              <a:rPr sz="1050">
                <a:solidFill>
                  <a:srgbClr val="222222"/>
                </a:solidFill>
                <a:latin typeface="Calibri"/>
              </a:rPr>
              <a:t>Automated Tests</a:t>
            </a:r>
          </a:p>
        </p:txBody>
      </p:sp>
      <p:sp>
        <p:nvSpPr>
          <p:cNvPr id="15397" name="TextBox 15396"/>
          <p:cNvSpPr txBox="1"/>
          <p:nvPr/>
        </p:nvSpPr>
        <p:spPr>
          <a:xfrm>
            <a:off x="5685434" y="5303519"/>
            <a:ext cx="306110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>
                <a:latin typeface="Segoe UI Emoji"/>
              </a:rPr>
              <a:t>🖥  </a:t>
            </a:r>
            <a:r>
              <a:rPr sz="1050">
                <a:solidFill>
                  <a:srgbClr val="222222"/>
                </a:solidFill>
                <a:latin typeface="Calibri"/>
              </a:rPr>
              <a:t>Working Tauri Desktop App</a:t>
            </a:r>
          </a:p>
        </p:txBody>
      </p:sp>
      <p:sp>
        <p:nvSpPr>
          <p:cNvPr id="15398" name="TextBox 15397"/>
          <p:cNvSpPr txBox="1"/>
          <p:nvPr/>
        </p:nvSpPr>
        <p:spPr>
          <a:xfrm>
            <a:off x="8746540" y="5303519"/>
            <a:ext cx="306110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>
                <a:latin typeface="Segoe UI Emoji"/>
              </a:rPr>
              <a:t>🚩  </a:t>
            </a:r>
            <a:r>
              <a:rPr sz="1250" b="1">
                <a:solidFill>
                  <a:srgbClr val="3B4A5A"/>
                </a:solidFill>
                <a:latin typeface="Calibri"/>
              </a:rPr>
              <a:t>6 </a:t>
            </a:r>
            <a:r>
              <a:rPr sz="1050">
                <a:solidFill>
                  <a:srgbClr val="222222"/>
                </a:solidFill>
                <a:latin typeface="Calibri"/>
              </a:rPr>
              <a:t>Phases Shipped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99162"/>
            <a:ext cx="12191999" cy="4588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/>
            <a:endParaRPr lang="en-US" sz="1800" dirty="0">
              <a:latin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0000" y="256503"/>
            <a:ext cx="8060000" cy="490000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36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APPROACH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Oval 4" descr="Your startup LOGO"/>
          <p:cNvSpPr/>
          <p:nvPr/>
        </p:nvSpPr>
        <p:spPr>
          <a:xfrm>
            <a:off x="328057" y="256503"/>
            <a:ext cx="1251857" cy="80733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50000"/>
              </a:schemeClr>
            </a:solidFill>
          </a:ln>
          <a:effectLst>
            <a:glow rad="101600">
              <a:schemeClr val="accent5">
                <a:lumMod val="50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Impact" panose="020B0806030902050204" pitchFamily="34" charset="0"/>
              </a:rPr>
              <a:t>OUTLAWS</a:t>
            </a:r>
            <a:endParaRPr lang="en-IN" sz="14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89320" y="1307592"/>
            <a:ext cx="5806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>
                <a:solidFill>
                  <a:srgbClr val="3B4A5A"/>
                </a:solidFill>
                <a:latin typeface="Calibri"/>
              </a:rPr>
              <a:t>❖  TECH STACK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1655064"/>
            <a:ext cx="5806440" cy="12700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89320" y="178308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>
                <a:latin typeface="Segoe UI Emoji"/>
              </a:rPr>
              <a:t>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2824" y="1783080"/>
            <a:ext cx="52029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>
                <a:solidFill>
                  <a:srgbClr val="0E7C86"/>
                </a:solidFill>
                <a:latin typeface="Calibri"/>
              </a:rPr>
              <a:t>FRONTEND &amp; APP SHELL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92824" y="2039112"/>
            <a:ext cx="760597" cy="274320"/>
          </a:xfrm>
          <a:prstGeom prst="roundRect">
            <a:avLst>
              <a:gd name="adj" fmla="val 50000"/>
            </a:avLst>
          </a:prstGeom>
          <a:solidFill>
            <a:srgbClr val="E9F5F6"/>
          </a:solidFill>
          <a:ln w="952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0E7C86"/>
                </a:solidFill>
                <a:latin typeface="Calibri"/>
              </a:rPr>
              <a:t>Tauri 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35717" y="2039112"/>
            <a:ext cx="840516" cy="274320"/>
          </a:xfrm>
          <a:prstGeom prst="roundRect">
            <a:avLst>
              <a:gd name="adj" fmla="val 50000"/>
            </a:avLst>
          </a:prstGeom>
          <a:solidFill>
            <a:srgbClr val="E9F5F6"/>
          </a:solidFill>
          <a:ln w="952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0E7C86"/>
                </a:solidFill>
                <a:latin typeface="Calibri"/>
              </a:rPr>
              <a:t>React 19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58529" y="2039112"/>
            <a:ext cx="1000353" cy="274320"/>
          </a:xfrm>
          <a:prstGeom prst="roundRect">
            <a:avLst>
              <a:gd name="adj" fmla="val 50000"/>
            </a:avLst>
          </a:prstGeom>
          <a:solidFill>
            <a:srgbClr val="E9F5F6"/>
          </a:solidFill>
          <a:ln w="952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0E7C86"/>
                </a:solidFill>
                <a:latin typeface="Calibri"/>
              </a:rPr>
              <a:t>TypeScript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41178" y="2039112"/>
            <a:ext cx="680679" cy="274320"/>
          </a:xfrm>
          <a:prstGeom prst="roundRect">
            <a:avLst>
              <a:gd name="adj" fmla="val 50000"/>
            </a:avLst>
          </a:prstGeom>
          <a:solidFill>
            <a:srgbClr val="E9F5F6"/>
          </a:solidFill>
          <a:ln w="952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0E7C86"/>
                </a:solidFill>
                <a:latin typeface="Calibri"/>
              </a:rPr>
              <a:t>Vite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92824" y="2368296"/>
            <a:ext cx="52029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i="1">
                <a:solidFill>
                  <a:srgbClr val="5A5A5A"/>
                </a:solidFill>
                <a:latin typeface="Calibri"/>
              </a:rPr>
              <a:t>Cross-platform desktop UI, typed end-to-end</a:t>
            </a:r>
          </a:p>
        </p:txBody>
      </p:sp>
      <p:sp>
        <p:nvSpPr>
          <p:cNvPr id="26" name="Oval 25"/>
          <p:cNvSpPr/>
          <p:nvPr/>
        </p:nvSpPr>
        <p:spPr>
          <a:xfrm>
            <a:off x="5989320" y="2752344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B74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>
                <a:latin typeface="Segoe UI Emoji"/>
              </a:rPr>
              <a:t>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92824" y="2752344"/>
            <a:ext cx="52029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>
                <a:solidFill>
                  <a:srgbClr val="B7472A"/>
                </a:solidFill>
                <a:latin typeface="Calibri"/>
              </a:rPr>
              <a:t>CORE &amp; STORAGE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92824" y="3008376"/>
            <a:ext cx="520842" cy="274320"/>
          </a:xfrm>
          <a:prstGeom prst="roundRect">
            <a:avLst>
              <a:gd name="adj" fmla="val 50000"/>
            </a:avLst>
          </a:prstGeom>
          <a:solidFill>
            <a:srgbClr val="FBEEE9"/>
          </a:solidFill>
          <a:ln w="9525">
            <a:solidFill>
              <a:srgbClr val="B74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B7472A"/>
                </a:solidFill>
                <a:latin typeface="Calibri"/>
              </a:rPr>
              <a:t>Rust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95962" y="3008376"/>
            <a:ext cx="680679" cy="274320"/>
          </a:xfrm>
          <a:prstGeom prst="roundRect">
            <a:avLst>
              <a:gd name="adj" fmla="val 50000"/>
            </a:avLst>
          </a:prstGeom>
          <a:solidFill>
            <a:srgbClr val="FBEEE9"/>
          </a:solidFill>
          <a:ln w="9525">
            <a:solidFill>
              <a:srgbClr val="B74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B7472A"/>
                </a:solidFill>
                <a:latin typeface="Calibri"/>
              </a:rPr>
              <a:t>SQLite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92824" y="3337560"/>
            <a:ext cx="52029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i="1">
                <a:solidFill>
                  <a:srgbClr val="5A5A5A"/>
                </a:solidFill>
                <a:latin typeface="Calibri"/>
              </a:rPr>
              <a:t>Layered, testable Rust core; file-backed persistence</a:t>
            </a:r>
          </a:p>
        </p:txBody>
      </p:sp>
      <p:sp>
        <p:nvSpPr>
          <p:cNvPr id="31" name="Oval 30"/>
          <p:cNvSpPr/>
          <p:nvPr/>
        </p:nvSpPr>
        <p:spPr>
          <a:xfrm>
            <a:off x="5989320" y="3721608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05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>
                <a:latin typeface="Segoe UI Emoji"/>
              </a:rPr>
              <a:t>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92824" y="3721608"/>
            <a:ext cx="52029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>
                <a:solidFill>
                  <a:srgbClr val="105D3D"/>
                </a:solidFill>
                <a:latin typeface="Calibri"/>
              </a:rPr>
              <a:t>MESH NETWORKING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92824" y="3977640"/>
            <a:ext cx="680679" cy="274320"/>
          </a:xfrm>
          <a:prstGeom prst="roundRect">
            <a:avLst>
              <a:gd name="adj" fmla="val 50000"/>
            </a:avLst>
          </a:prstGeom>
          <a:solidFill>
            <a:srgbClr val="EAF7F1"/>
          </a:solidFill>
          <a:ln w="9525">
            <a:solidFill>
              <a:srgbClr val="105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105D3D"/>
                </a:solidFill>
                <a:latin typeface="Calibri"/>
              </a:rPr>
              <a:t>libp2p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55799" y="3977640"/>
            <a:ext cx="520842" cy="274320"/>
          </a:xfrm>
          <a:prstGeom prst="roundRect">
            <a:avLst>
              <a:gd name="adj" fmla="val 50000"/>
            </a:avLst>
          </a:prstGeom>
          <a:solidFill>
            <a:srgbClr val="EAF7F1"/>
          </a:solidFill>
          <a:ln w="9525">
            <a:solidFill>
              <a:srgbClr val="105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105D3D"/>
                </a:solidFill>
                <a:latin typeface="Calibri"/>
              </a:rPr>
              <a:t>QUIC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58937" y="3977640"/>
            <a:ext cx="520842" cy="274320"/>
          </a:xfrm>
          <a:prstGeom prst="roundRect">
            <a:avLst>
              <a:gd name="adj" fmla="val 50000"/>
            </a:avLst>
          </a:prstGeom>
          <a:solidFill>
            <a:srgbClr val="EAF7F1"/>
          </a:solidFill>
          <a:ln w="9525">
            <a:solidFill>
              <a:srgbClr val="105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105D3D"/>
                </a:solidFill>
                <a:latin typeface="Calibri"/>
              </a:rPr>
              <a:t>mDNS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62075" y="3977640"/>
            <a:ext cx="760597" cy="274320"/>
          </a:xfrm>
          <a:prstGeom prst="roundRect">
            <a:avLst>
              <a:gd name="adj" fmla="val 50000"/>
            </a:avLst>
          </a:prstGeom>
          <a:solidFill>
            <a:srgbClr val="EAF7F1"/>
          </a:solidFill>
          <a:ln w="9525">
            <a:solidFill>
              <a:srgbClr val="105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105D3D"/>
                </a:solidFill>
                <a:latin typeface="Calibri"/>
              </a:rPr>
              <a:t>Ed25519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92824" y="4306824"/>
            <a:ext cx="52029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i="1">
                <a:solidFill>
                  <a:srgbClr val="5A5A5A"/>
                </a:solidFill>
                <a:latin typeface="Calibri"/>
              </a:rPr>
              <a:t>Encrypted P2P transport, local discovery, signed identity</a:t>
            </a:r>
          </a:p>
        </p:txBody>
      </p:sp>
      <p:sp>
        <p:nvSpPr>
          <p:cNvPr id="38" name="Oval 37"/>
          <p:cNvSpPr/>
          <p:nvPr/>
        </p:nvSpPr>
        <p:spPr>
          <a:xfrm>
            <a:off x="5989320" y="469087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7A3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>
                <a:latin typeface="Segoe UI Emoji"/>
              </a:rPr>
              <a:t>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92824" y="4690872"/>
            <a:ext cx="52029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>
                <a:solidFill>
                  <a:srgbClr val="7A3E9C"/>
                </a:solidFill>
                <a:latin typeface="Calibri"/>
              </a:rPr>
              <a:t>LOCAL AI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92824" y="4946904"/>
            <a:ext cx="2199132" cy="274320"/>
          </a:xfrm>
          <a:prstGeom prst="roundRect">
            <a:avLst>
              <a:gd name="adj" fmla="val 50000"/>
            </a:avLst>
          </a:prstGeom>
          <a:solidFill>
            <a:srgbClr val="F3ECF8"/>
          </a:solidFill>
          <a:ln w="9525">
            <a:solidFill>
              <a:srgbClr val="7A3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7A3E9C"/>
                </a:solidFill>
                <a:latin typeface="Calibri"/>
              </a:rPr>
              <a:t>Qwen2.5-1.5B (fine-tuned)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74252" y="4946904"/>
            <a:ext cx="920435" cy="274320"/>
          </a:xfrm>
          <a:prstGeom prst="roundRect">
            <a:avLst>
              <a:gd name="adj" fmla="val 50000"/>
            </a:avLst>
          </a:prstGeom>
          <a:solidFill>
            <a:srgbClr val="F3ECF8"/>
          </a:solidFill>
          <a:ln w="9525">
            <a:solidFill>
              <a:srgbClr val="7A3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7A3E9C"/>
                </a:solidFill>
                <a:latin typeface="Calibri"/>
              </a:rPr>
              <a:t>llama.cpp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876983" y="4946904"/>
            <a:ext cx="1320027" cy="274320"/>
          </a:xfrm>
          <a:prstGeom prst="roundRect">
            <a:avLst>
              <a:gd name="adj" fmla="val 50000"/>
            </a:avLst>
          </a:prstGeom>
          <a:solidFill>
            <a:srgbClr val="F3ECF8"/>
          </a:solidFill>
          <a:ln w="9525">
            <a:solidFill>
              <a:srgbClr val="7A3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7A3E9C"/>
                </a:solidFill>
                <a:latin typeface="Calibri"/>
              </a:rPr>
              <a:t>BGE embeddings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92824" y="5312664"/>
            <a:ext cx="600760" cy="274320"/>
          </a:xfrm>
          <a:prstGeom prst="roundRect">
            <a:avLst>
              <a:gd name="adj" fmla="val 50000"/>
            </a:avLst>
          </a:prstGeom>
          <a:solidFill>
            <a:srgbClr val="F3ECF8"/>
          </a:solidFill>
          <a:ln w="9525">
            <a:solidFill>
              <a:srgbClr val="7A3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7A3E9C"/>
                </a:solidFill>
                <a:latin typeface="Calibri"/>
              </a:rPr>
              <a:t>QLoRA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2824" y="5641848"/>
            <a:ext cx="52029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i="1">
                <a:solidFill>
                  <a:srgbClr val="5A5A5A"/>
                </a:solidFill>
                <a:latin typeface="Calibri"/>
              </a:rPr>
              <a:t>On-device inference, GGUF Q4_K_M, zero cloud calls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9184" y="1307592"/>
            <a:ext cx="5312664" cy="2596896"/>
          </a:xfrm>
          <a:prstGeom prst="roundRect">
            <a:avLst>
              <a:gd name="adj" fmla="val 4500"/>
            </a:avLst>
          </a:prstGeom>
          <a:solidFill>
            <a:srgbClr val="EAF7F1"/>
          </a:solidFill>
          <a:ln w="12700">
            <a:solidFill>
              <a:srgbClr val="CBE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>
            <a:off x="329184" y="1307592"/>
            <a:ext cx="5312664" cy="420624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105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0000" rIns="120000" tIns="0" bIns="0"/>
          <a:lstStyle/>
          <a:p>
            <a:pPr algn="l"/>
            <a:r>
              <a:rPr sz="1500" b="1">
                <a:solidFill>
                  <a:srgbClr val="FFFFFF"/>
                </a:solidFill>
                <a:latin typeface="Segoe UI Emoji"/>
              </a:rPr>
              <a:t>🌐  </a:t>
            </a:r>
            <a:r>
              <a:rPr sz="1400" b="1">
                <a:solidFill>
                  <a:srgbClr val="FFFFFF"/>
                </a:solidFill>
                <a:latin typeface="Calibri"/>
              </a:rPr>
              <a:t>MESH NETWORK TOPOLOGY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184" y="1819656"/>
            <a:ext cx="531266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>
                <a:latin typeface="Segoe UI Emoji"/>
              </a:rPr>
              <a:t>🔒 </a:t>
            </a:r>
            <a:r>
              <a:rPr sz="950" b="1">
                <a:solidFill>
                  <a:srgbClr val="105D3D"/>
                </a:solidFill>
                <a:latin typeface="Calibri"/>
              </a:rPr>
              <a:t>Encrypted via libp2p + QUIC · mDNS discovery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139696" y="2148840"/>
            <a:ext cx="169164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D7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212848" y="2249424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5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latin typeface="Segoe UI Emoji"/>
              </a:rPr>
              <a:t>⚙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51760" y="2148840"/>
            <a:ext cx="11064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>
                <a:solidFill>
                  <a:srgbClr val="3B4A5A"/>
                </a:solidFill>
                <a:latin typeface="Calibri"/>
              </a:rPr>
              <a:t>Node 1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5A5A5A"/>
                </a:solidFill>
                <a:latin typeface="Calibri"/>
              </a:rPr>
              <a:t>Raspberry Pi 4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30352" y="2990088"/>
            <a:ext cx="169164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D7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03504" y="3090672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5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latin typeface="Segoe UI Emoji"/>
              </a:rPr>
              <a:t>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2416" y="2990088"/>
            <a:ext cx="11064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>
                <a:solidFill>
                  <a:srgbClr val="3B4A5A"/>
                </a:solidFill>
                <a:latin typeface="Calibri"/>
              </a:rPr>
              <a:t>Node 2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5A5A5A"/>
                </a:solidFill>
                <a:latin typeface="Calibri"/>
              </a:rPr>
              <a:t>Raspberry Pi 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749040" y="2990088"/>
            <a:ext cx="169164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D7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822192" y="3090672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5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latin typeface="Segoe UI Emoji"/>
              </a:rPr>
              <a:t>⚙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61104" y="2990088"/>
            <a:ext cx="11064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>
                <a:solidFill>
                  <a:srgbClr val="3B4A5A"/>
                </a:solidFill>
                <a:latin typeface="Calibri"/>
              </a:rPr>
              <a:t>Node 3</a:t>
            </a:r>
          </a:p>
          <a:p>
            <a:pPr>
              <a:spcBef>
                <a:spcPts val="0"/>
              </a:spcBef>
            </a:pPr>
            <a:r>
              <a:rPr sz="850">
                <a:solidFill>
                  <a:srgbClr val="5A5A5A"/>
                </a:solidFill>
                <a:latin typeface="Calibri"/>
              </a:rPr>
              <a:t>Raspberry Pi 4</a:t>
            </a:r>
          </a:p>
        </p:txBody>
      </p:sp>
      <p:cxnSp>
        <p:nvCxnSpPr>
          <p:cNvPr id="57" name="Connector 56"/>
          <p:cNvCxnSpPr/>
          <p:nvPr/>
        </p:nvCxnSpPr>
        <p:spPr>
          <a:xfrm flipH="1">
            <a:off x="1376172" y="2715768"/>
            <a:ext cx="1609344" cy="274320"/>
          </a:xfrm>
          <a:prstGeom prst="line">
            <a:avLst/>
          </a:prstGeom>
          <a:ln w="15875">
            <a:solidFill>
              <a:srgbClr val="6FA8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985516" y="2715768"/>
            <a:ext cx="1609344" cy="274320"/>
          </a:xfrm>
          <a:prstGeom prst="line">
            <a:avLst/>
          </a:prstGeom>
          <a:ln w="15875">
            <a:solidFill>
              <a:srgbClr val="6FA8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376172" y="2990088"/>
            <a:ext cx="3218688" cy="0"/>
          </a:xfrm>
          <a:prstGeom prst="line">
            <a:avLst/>
          </a:prstGeom>
          <a:ln w="15875">
            <a:solidFill>
              <a:srgbClr val="6FA8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48640" y="3630168"/>
            <a:ext cx="48737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i="1">
                <a:solidFill>
                  <a:srgbClr val="5A5A5A"/>
                </a:solidFill>
                <a:latin typeface="Calibri"/>
              </a:rPr>
              <a:t>Each node runs the full mesh + AI stack independently — no central server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29184" y="4069080"/>
            <a:ext cx="5312664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7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 Same Side Corner Rectangle 61"/>
          <p:cNvSpPr/>
          <p:nvPr/>
        </p:nvSpPr>
        <p:spPr>
          <a:xfrm>
            <a:off x="329184" y="4069080"/>
            <a:ext cx="5312664" cy="420624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0000" rIns="120000" tIns="0" bIns="0"/>
          <a:lstStyle/>
          <a:p>
            <a:pPr algn="l"/>
            <a:r>
              <a:rPr sz="1500" b="1">
                <a:solidFill>
                  <a:srgbClr val="FFFFFF"/>
                </a:solidFill>
                <a:latin typeface="Segoe UI Emoji"/>
              </a:rPr>
              <a:t>🖥  </a:t>
            </a:r>
            <a:r>
              <a:rPr sz="1400" b="1">
                <a:solidFill>
                  <a:srgbClr val="FFFFFF"/>
                </a:solidFill>
                <a:latin typeface="Calibri"/>
              </a:rPr>
              <a:t>NODE HARDWARE</a:t>
            </a:r>
          </a:p>
        </p:txBody>
      </p:sp>
      <p:sp>
        <p:nvSpPr>
          <p:cNvPr id="63" name="Oval 62"/>
          <p:cNvSpPr/>
          <p:nvPr/>
        </p:nvSpPr>
        <p:spPr>
          <a:xfrm>
            <a:off x="530352" y="4599432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5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latin typeface="Segoe UI Emoji"/>
              </a:rPr>
              <a:t>💻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7552" y="4617720"/>
            <a:ext cx="445312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222222"/>
                </a:solidFill>
                <a:latin typeface="Calibri"/>
              </a:rPr>
              <a:t>Raspberry Pi 4 Model B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5A5A5A"/>
                </a:solidFill>
                <a:latin typeface="Calibri"/>
              </a:rPr>
              <a:t>Main compute — runs the mesh, AI inference, and security stack</a:t>
            </a:r>
          </a:p>
        </p:txBody>
      </p:sp>
      <p:sp>
        <p:nvSpPr>
          <p:cNvPr id="65" name="Oval 64"/>
          <p:cNvSpPr/>
          <p:nvPr/>
        </p:nvSpPr>
        <p:spPr>
          <a:xfrm>
            <a:off x="530352" y="5020056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5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latin typeface="Segoe UI Emoji"/>
              </a:rPr>
              <a:t>🔌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7552" y="5038344"/>
            <a:ext cx="445312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222222"/>
                </a:solidFill>
                <a:latin typeface="Calibri"/>
              </a:rPr>
              <a:t>Power Supply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5A5A5A"/>
                </a:solidFill>
                <a:latin typeface="Calibri"/>
              </a:rPr>
              <a:t>5V USB-C, battery-capable for field deployment</a:t>
            </a:r>
          </a:p>
        </p:txBody>
      </p:sp>
      <p:sp>
        <p:nvSpPr>
          <p:cNvPr id="67" name="Oval 66"/>
          <p:cNvSpPr/>
          <p:nvPr/>
        </p:nvSpPr>
        <p:spPr>
          <a:xfrm>
            <a:off x="530352" y="544068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5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latin typeface="Segoe UI Emoji"/>
              </a:rPr>
              <a:t>💾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87552" y="5458968"/>
            <a:ext cx="445312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222222"/>
                </a:solidFill>
                <a:latin typeface="Calibri"/>
              </a:rPr>
              <a:t>Storage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5A5A5A"/>
                </a:solidFill>
                <a:latin typeface="Calibri"/>
              </a:rPr>
              <a:t>microSD / eMMC for the local database and model files</a:t>
            </a:r>
          </a:p>
        </p:txBody>
      </p:sp>
      <p:sp>
        <p:nvSpPr>
          <p:cNvPr id="69" name="Oval 68"/>
          <p:cNvSpPr/>
          <p:nvPr/>
        </p:nvSpPr>
        <p:spPr>
          <a:xfrm>
            <a:off x="530352" y="5861304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5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latin typeface="Segoe UI Emoji"/>
              </a:rPr>
              <a:t>📶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87552" y="5879592"/>
            <a:ext cx="445312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222222"/>
                </a:solidFill>
                <a:latin typeface="Calibri"/>
              </a:rPr>
              <a:t>Networking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5A5A5A"/>
                </a:solidFill>
                <a:latin typeface="Calibri"/>
              </a:rPr>
              <a:t>Onboard Wi-Fi / Ethernet — libp2p + QUIC, mDNS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449903" y="101266"/>
            <a:ext cx="6768859" cy="1111462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74864588-AE68-F97D-E8B2-B9FC7BE44EF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6503"/>
            <a:ext cx="1251857" cy="80733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50000"/>
              </a:schemeClr>
            </a:solidFill>
          </a:ln>
          <a:effectLst>
            <a:glow rad="101600">
              <a:schemeClr val="accent5">
                <a:lumMod val="50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Impact" panose="020B0806030902050204" pitchFamily="34" charset="0"/>
              </a:rPr>
              <a:t>OUTLAWS</a:t>
            </a:r>
            <a:endParaRPr lang="en-IN" sz="14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sp>
        <p:nvSpPr>
          <p:cNvPr id="17410" name="Rounded Rectangle 17409"/>
          <p:cNvSpPr/>
          <p:nvPr/>
        </p:nvSpPr>
        <p:spPr>
          <a:xfrm>
            <a:off x="502920" y="1280160"/>
            <a:ext cx="2880360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D7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Oval 17410"/>
          <p:cNvSpPr/>
          <p:nvPr/>
        </p:nvSpPr>
        <p:spPr>
          <a:xfrm>
            <a:off x="658368" y="1399032"/>
            <a:ext cx="420624" cy="420624"/>
          </a:xfrm>
          <a:prstGeom prst="ellipse">
            <a:avLst/>
          </a:prstGeom>
          <a:solidFill>
            <a:srgbClr val="F0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latin typeface="Segoe UI Emoji"/>
              </a:rPr>
              <a:t>💻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1161288" y="1280160"/>
            <a:ext cx="209397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>
                <a:solidFill>
                  <a:srgbClr val="3B4A5A"/>
                </a:solidFill>
                <a:latin typeface="Calibri"/>
              </a:rPr>
              <a:t>Laptop Node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5A5A5A"/>
                </a:solidFill>
                <a:latin typeface="Calibri"/>
              </a:rPr>
              <a:t>Fine-tuned SecureMesh-SLM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8641080" y="1280160"/>
            <a:ext cx="2880360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D7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Oval 17413"/>
          <p:cNvSpPr/>
          <p:nvPr/>
        </p:nvSpPr>
        <p:spPr>
          <a:xfrm>
            <a:off x="8796528" y="1399032"/>
            <a:ext cx="420624" cy="420624"/>
          </a:xfrm>
          <a:prstGeom prst="ellipse">
            <a:avLst/>
          </a:prstGeom>
          <a:solidFill>
            <a:srgbClr val="F0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>
                <a:latin typeface="Segoe UI Emoji"/>
              </a:rPr>
              <a:t>⚙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9299448" y="1280160"/>
            <a:ext cx="209397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>
                <a:solidFill>
                  <a:srgbClr val="3B4A5A"/>
                </a:solidFill>
                <a:latin typeface="Calibri"/>
              </a:rPr>
              <a:t>Pi / Jetson Node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5A5A5A"/>
                </a:solidFill>
                <a:latin typeface="Calibri"/>
              </a:rPr>
              <a:t>Production model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3383280" y="1599819"/>
            <a:ext cx="5257800" cy="19050"/>
          </a:xfrm>
          <a:prstGeom prst="rect">
            <a:avLst/>
          </a:prstGeom>
          <a:solidFill>
            <a:srgbClr val="B8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Oval 17416"/>
          <p:cNvSpPr/>
          <p:nvPr/>
        </p:nvSpPr>
        <p:spPr>
          <a:xfrm>
            <a:off x="3345180" y="1571244"/>
            <a:ext cx="76200" cy="76200"/>
          </a:xfrm>
          <a:prstGeom prst="ellipse">
            <a:avLst/>
          </a:prstGeom>
          <a:solidFill>
            <a:srgbClr val="8A9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Oval 17417"/>
          <p:cNvSpPr/>
          <p:nvPr/>
        </p:nvSpPr>
        <p:spPr>
          <a:xfrm>
            <a:off x="8602980" y="1571244"/>
            <a:ext cx="76200" cy="76200"/>
          </a:xfrm>
          <a:prstGeom prst="ellipse">
            <a:avLst/>
          </a:prstGeom>
          <a:solidFill>
            <a:srgbClr val="8A9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4846320" y="1453896"/>
            <a:ext cx="23317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>
                <a:latin typeface="Segoe UI Emoji"/>
              </a:rPr>
              <a:t>🔒 </a:t>
            </a:r>
            <a:r>
              <a:rPr sz="950" b="1">
                <a:solidFill>
                  <a:srgbClr val="3B4A5A"/>
                </a:solidFill>
                <a:latin typeface="Calibri"/>
              </a:rPr>
              <a:t>libp2p + QUIC · mDNS discovery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502920" y="1975104"/>
            <a:ext cx="11018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i="1">
                <a:solidFill>
                  <a:srgbClr val="5A5A5A"/>
                </a:solidFill>
                <a:latin typeface="Calibri"/>
              </a:rPr>
              <a:t>Independent AI models per node — mesh protocol and record format unaffected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502920" y="2249424"/>
            <a:ext cx="5257800" cy="4014216"/>
          </a:xfrm>
          <a:prstGeom prst="roundRect">
            <a:avLst>
              <a:gd name="adj" fmla="val 4500"/>
            </a:avLst>
          </a:prstGeom>
          <a:solidFill>
            <a:srgbClr val="EAF7F1"/>
          </a:solidFill>
          <a:ln w="12700">
            <a:solidFill>
              <a:srgbClr val="CBE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Round Same Side Corner Rectangle 17421"/>
          <p:cNvSpPr/>
          <p:nvPr/>
        </p:nvSpPr>
        <p:spPr>
          <a:xfrm>
            <a:off x="502920" y="2249424"/>
            <a:ext cx="5257800" cy="438912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105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0000" rIns="120000" tIns="0" bIns="0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✓  </a:t>
            </a:r>
            <a:r>
              <a:rPr sz="1550" b="1">
                <a:solidFill>
                  <a:srgbClr val="FFFFFF"/>
                </a:solidFill>
                <a:latin typeface="Calibri"/>
              </a:rPr>
              <a:t>VALIDATED TODAY</a:t>
            </a:r>
          </a:p>
        </p:txBody>
      </p:sp>
      <p:sp>
        <p:nvSpPr>
          <p:cNvPr id="17423" name="Oval 17422"/>
          <p:cNvSpPr/>
          <p:nvPr/>
        </p:nvSpPr>
        <p:spPr>
          <a:xfrm>
            <a:off x="740664" y="2761488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latin typeface="Segoe UI Emoji"/>
              </a:rPr>
              <a:t>🌐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1234440" y="2798064"/>
            <a:ext cx="4288536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>
                <a:solidFill>
                  <a:srgbClr val="222222"/>
                </a:solidFill>
                <a:latin typeface="Calibri"/>
              </a:rPr>
              <a:t>P2P Mesh Networking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5A5A5A"/>
                </a:solidFill>
                <a:latin typeface="Calibri"/>
              </a:rPr>
              <a:t>libp2p + QUIC transport, mDNS discovery, multi-hop relay</a:t>
            </a:r>
          </a:p>
        </p:txBody>
      </p:sp>
      <p:sp>
        <p:nvSpPr>
          <p:cNvPr id="17425" name="Oval 17424"/>
          <p:cNvSpPr/>
          <p:nvPr/>
        </p:nvSpPr>
        <p:spPr>
          <a:xfrm>
            <a:off x="740664" y="324612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latin typeface="Segoe UI Emoji"/>
              </a:rPr>
              <a:t>🛡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1234440" y="3282696"/>
            <a:ext cx="4288536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>
                <a:solidFill>
                  <a:srgbClr val="222222"/>
                </a:solidFill>
                <a:latin typeface="Calibri"/>
              </a:rPr>
              <a:t>Peer Identity &amp; Trust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5A5A5A"/>
                </a:solidFill>
                <a:latin typeface="Calibri"/>
              </a:rPr>
              <a:t>Ed25519 node identity; peers explicitly enrolled by an operator</a:t>
            </a:r>
          </a:p>
        </p:txBody>
      </p:sp>
      <p:sp>
        <p:nvSpPr>
          <p:cNvPr id="17427" name="Oval 17426"/>
          <p:cNvSpPr/>
          <p:nvPr/>
        </p:nvSpPr>
        <p:spPr>
          <a:xfrm>
            <a:off x="740664" y="3730752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latin typeface="Segoe UI Emoji"/>
              </a:rPr>
              <a:t>🔄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1234440" y="3767328"/>
            <a:ext cx="4288536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>
                <a:solidFill>
                  <a:srgbClr val="222222"/>
                </a:solidFill>
                <a:latin typeface="Calibri"/>
              </a:rPr>
              <a:t>Deterministic Synchronization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5A5A5A"/>
                </a:solidFill>
                <a:latin typeface="Calibri"/>
              </a:rPr>
              <a:t>Conflict-free, offline-first sync over a signed event log</a:t>
            </a:r>
          </a:p>
        </p:txBody>
      </p:sp>
      <p:sp>
        <p:nvSpPr>
          <p:cNvPr id="17429" name="Oval 17428"/>
          <p:cNvSpPr/>
          <p:nvPr/>
        </p:nvSpPr>
        <p:spPr>
          <a:xfrm>
            <a:off x="740664" y="4215384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latin typeface="Segoe UI Emoji"/>
              </a:rPr>
              <a:t>🧠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1234440" y="4251960"/>
            <a:ext cx="4288536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>
                <a:solidFill>
                  <a:srgbClr val="222222"/>
                </a:solidFill>
                <a:latin typeface="Calibri"/>
              </a:rPr>
              <a:t>Local AI + RAG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5A5A5A"/>
                </a:solidFill>
                <a:latin typeface="Calibri"/>
              </a:rPr>
              <a:t>Fine-tuned Qwen2.5-1.5B on-device, with BGE embeddings for retrieval</a:t>
            </a:r>
          </a:p>
        </p:txBody>
      </p:sp>
      <p:sp>
        <p:nvSpPr>
          <p:cNvPr id="17431" name="Oval 17430"/>
          <p:cNvSpPr/>
          <p:nvPr/>
        </p:nvSpPr>
        <p:spPr>
          <a:xfrm>
            <a:off x="740664" y="4700016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latin typeface="Segoe UI Emoji"/>
              </a:rPr>
              <a:t>📴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1234440" y="4736592"/>
            <a:ext cx="4288536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>
                <a:solidFill>
                  <a:srgbClr val="222222"/>
                </a:solidFill>
                <a:latin typeface="Calibri"/>
              </a:rPr>
              <a:t>Offline-First Operation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5A5A5A"/>
                </a:solidFill>
                <a:latin typeface="Calibri"/>
              </a:rPr>
              <a:t>Full incident capture and sync with zero connectivity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740664" y="5568696"/>
            <a:ext cx="4782312" cy="4023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BE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rIns="120000" tIns="0" bIns="0"/>
          <a:lstStyle/>
          <a:p>
            <a:pPr algn="l"/>
            <a:r>
              <a:rPr sz="1200" b="1">
                <a:solidFill>
                  <a:srgbClr val="105D3D"/>
                </a:solidFill>
                <a:latin typeface="Calibri"/>
              </a:rPr>
              <a:t>~2.5s</a:t>
            </a:r>
            <a:r>
              <a:rPr sz="1200" b="0">
                <a:solidFill>
                  <a:srgbClr val="222222"/>
                </a:solidFill>
                <a:latin typeface="Calibri"/>
              </a:rPr>
              <a:t> / analysis  </a:t>
            </a:r>
            <a:r>
              <a:rPr sz="1200" b="0">
                <a:solidFill>
                  <a:srgbClr val="BDBDBD"/>
                </a:solidFill>
                <a:latin typeface="Calibri"/>
              </a:rPr>
              <a:t>│  </a:t>
            </a:r>
            <a:r>
              <a:rPr sz="1200" b="1">
                <a:solidFill>
                  <a:srgbClr val="105D3D"/>
                </a:solidFill>
                <a:latin typeface="Calibri"/>
              </a:rPr>
              <a:t>759</a:t>
            </a:r>
            <a:r>
              <a:rPr sz="1200" b="0">
                <a:solidFill>
                  <a:srgbClr val="222222"/>
                </a:solidFill>
                <a:latin typeface="Calibri"/>
              </a:rPr>
              <a:t> tests, </a:t>
            </a:r>
            <a:r>
              <a:rPr sz="1200" b="1">
                <a:solidFill>
                  <a:srgbClr val="105D3D"/>
                </a:solidFill>
                <a:latin typeface="Calibri"/>
              </a:rPr>
              <a:t>0</a:t>
            </a:r>
            <a:r>
              <a:rPr sz="1200" b="0">
                <a:solidFill>
                  <a:srgbClr val="222222"/>
                </a:solidFill>
                <a:latin typeface="Calibri"/>
              </a:rPr>
              <a:t> failed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740664" y="6007608"/>
            <a:ext cx="47823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i="1">
                <a:solidFill>
                  <a:srgbClr val="5A5A5A"/>
                </a:solidFill>
                <a:latin typeface="Calibri"/>
              </a:rPr>
              <a:t>Measured on x86-64 CPU — Raspberry Pi / Jetson benchmarking in progress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6263640" y="2249424"/>
            <a:ext cx="5257800" cy="4014216"/>
          </a:xfrm>
          <a:prstGeom prst="roundRect">
            <a:avLst>
              <a:gd name="adj" fmla="val 4500"/>
            </a:avLst>
          </a:prstGeom>
          <a:solidFill>
            <a:srgbClr val="FFF7E9"/>
          </a:solidFill>
          <a:ln w="12700">
            <a:solidFill>
              <a:srgbClr val="F3D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Round Same Side Corner Rectangle 17435"/>
          <p:cNvSpPr/>
          <p:nvPr/>
        </p:nvSpPr>
        <p:spPr>
          <a:xfrm>
            <a:off x="6263640" y="2249424"/>
            <a:ext cx="5257800" cy="438912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E08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0000" rIns="120000" tIns="0" bIns="0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⚠  </a:t>
            </a:r>
            <a:r>
              <a:rPr sz="1550" b="1">
                <a:solidFill>
                  <a:srgbClr val="FFFFFF"/>
                </a:solidFill>
                <a:latin typeface="Calibri"/>
              </a:rPr>
              <a:t>KNOWN LIMITATIONS → NEXT STEPS</a:t>
            </a:r>
          </a:p>
        </p:txBody>
      </p:sp>
      <p:sp>
        <p:nvSpPr>
          <p:cNvPr id="17437" name="Oval 17436"/>
          <p:cNvSpPr/>
          <p:nvPr/>
        </p:nvSpPr>
        <p:spPr>
          <a:xfrm>
            <a:off x="6501384" y="2779776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latin typeface="Segoe UI Emoji"/>
              </a:rPr>
              <a:t>📡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6995160" y="2816352"/>
            <a:ext cx="428853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>
                <a:solidFill>
                  <a:srgbClr val="222222"/>
                </a:solidFill>
                <a:latin typeface="Calibri"/>
              </a:rPr>
              <a:t>Revocation does not propagate mesh-wide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8A8A8A"/>
                </a:solidFill>
                <a:latin typeface="Calibri"/>
              </a:rPr>
              <a:t>→ mesh-wide revocation propagation</a:t>
            </a:r>
          </a:p>
        </p:txBody>
      </p:sp>
      <p:sp>
        <p:nvSpPr>
          <p:cNvPr id="17439" name="Oval 17438"/>
          <p:cNvSpPr/>
          <p:nvPr/>
        </p:nvSpPr>
        <p:spPr>
          <a:xfrm>
            <a:off x="6501384" y="338328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latin typeface="Segoe UI Emoji"/>
              </a:rPr>
              <a:t>🔑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6995160" y="3419856"/>
            <a:ext cx="428853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>
                <a:solidFill>
                  <a:srgbClr val="222222"/>
                </a:solidFill>
                <a:latin typeface="Calibri"/>
              </a:rPr>
              <a:t>Private keys secured by OS permissions only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8A8A8A"/>
                </a:solidFill>
                <a:latin typeface="Calibri"/>
              </a:rPr>
              <a:t>→ hardware-backed keys (TPM / TEE)</a:t>
            </a:r>
          </a:p>
        </p:txBody>
      </p:sp>
      <p:sp>
        <p:nvSpPr>
          <p:cNvPr id="17441" name="Oval 17440"/>
          <p:cNvSpPr/>
          <p:nvPr/>
        </p:nvSpPr>
        <p:spPr>
          <a:xfrm>
            <a:off x="6501384" y="3986784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latin typeface="Segoe UI Emoji"/>
              </a:rPr>
              <a:t>🔓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6995160" y="4023360"/>
            <a:ext cx="428853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>
                <a:solidFill>
                  <a:srgbClr val="222222"/>
                </a:solidFill>
                <a:latin typeface="Calibri"/>
              </a:rPr>
              <a:t>Relay nodes can read forwarded plaintext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8A8A8A"/>
                </a:solidFill>
                <a:latin typeface="Calibri"/>
              </a:rPr>
              <a:t>→ application-layer end-to-end encryption</a:t>
            </a:r>
          </a:p>
        </p:txBody>
      </p:sp>
      <p:sp>
        <p:nvSpPr>
          <p:cNvPr id="17443" name="Oval 17442"/>
          <p:cNvSpPr/>
          <p:nvPr/>
        </p:nvSpPr>
        <p:spPr>
          <a:xfrm>
            <a:off x="6501384" y="4590288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latin typeface="Segoe UI Emoji"/>
              </a:rPr>
              <a:t>🔍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6995160" y="4626864"/>
            <a:ext cx="428853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>
                <a:solidFill>
                  <a:srgbClr val="222222"/>
                </a:solidFill>
                <a:latin typeface="Calibri"/>
              </a:rPr>
              <a:t>No independent security audit yet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8A8A8A"/>
                </a:solidFill>
                <a:latin typeface="Calibri"/>
              </a:rPr>
              <a:t>→ penetration testing and review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6501384" y="5788152"/>
            <a:ext cx="4782312" cy="3291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F3D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rIns="120000" tIns="0" bIns="0"/>
          <a:lstStyle/>
          <a:p>
            <a:pPr algn="l"/>
            <a:r>
              <a:rPr sz="900" i="1" b="1">
                <a:solidFill>
                  <a:srgbClr val="8A5A00"/>
                </a:solidFill>
                <a:latin typeface="Calibri"/>
              </a:rPr>
              <a:t>Every claim on this slide is backed by an automated test or a measurement.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40086" y="-40344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595AF433-6E91-BD54-F1A8-1AF4CED8419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6503"/>
            <a:ext cx="1251857" cy="80733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50000"/>
              </a:schemeClr>
            </a:solidFill>
          </a:ln>
          <a:effectLst>
            <a:glow rad="101600">
              <a:schemeClr val="accent5">
                <a:lumMod val="50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Impact" panose="020B0806030902050204" pitchFamily="34" charset="0"/>
              </a:rPr>
              <a:t>OUTLAWS</a:t>
            </a:r>
            <a:endParaRPr lang="en-IN" sz="14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8E8060-2298-1E45-1E86-BD0278B82A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006" t="18998" r="27803" b="63908"/>
          <a:stretch>
            <a:fillRect/>
          </a:stretch>
        </p:blipFill>
        <p:spPr>
          <a:xfrm>
            <a:off x="636427" y="5240452"/>
            <a:ext cx="1890406" cy="1075492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666577-17A5-6D9A-B0A2-A6CAEA9F42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2583" t="18998" r="1803" b="65047"/>
          <a:stretch>
            <a:fillRect/>
          </a:stretch>
        </p:blipFill>
        <p:spPr>
          <a:xfrm>
            <a:off x="2977102" y="5234452"/>
            <a:ext cx="1834804" cy="1084861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2410D61-01D1-EBF8-1031-944038FF18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413" t="39644" r="29120" b="44401"/>
          <a:stretch>
            <a:fillRect/>
          </a:stretch>
        </p:blipFill>
        <p:spPr>
          <a:xfrm>
            <a:off x="5367026" y="5227712"/>
            <a:ext cx="1766348" cy="1075491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7339440-8DEA-1863-E3CF-69B2444CB2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2266" t="39644" r="2546" b="44401"/>
          <a:stretch>
            <a:fillRect/>
          </a:stretch>
        </p:blipFill>
        <p:spPr>
          <a:xfrm>
            <a:off x="7458618" y="5234452"/>
            <a:ext cx="1906774" cy="1078861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19869C2-E24F-BA4B-F5CF-06CF27785F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607" t="59181" r="28872" b="22846"/>
          <a:stretch>
            <a:fillRect/>
          </a:stretch>
        </p:blipFill>
        <p:spPr>
          <a:xfrm>
            <a:off x="9552614" y="5224410"/>
            <a:ext cx="1747286" cy="1078793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4FDD977-BAFA-D664-A584-AE0B33E2876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560" b="11573"/>
          <a:stretch>
            <a:fillRect/>
          </a:stretch>
        </p:blipFill>
        <p:spPr>
          <a:xfrm>
            <a:off x="636427" y="1141474"/>
            <a:ext cx="7705316" cy="4054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/>
            <a:endParaRPr lang="en-US" sz="1800" dirty="0">
              <a:latin typeface="Calibri"/>
            </a:endParaRPr>
          </a:p>
        </p:txBody>
      </p:sp>
      <p:sp>
        <p:nvSpPr>
          <p:cNvPr id="101" name="Band 0"/>
          <p:cNvSpPr/>
          <p:nvPr/>
        </p:nvSpPr>
        <p:spPr>
          <a:xfrm>
            <a:off x="1290000" y="1290000"/>
            <a:ext cx="10620000" cy="600000"/>
          </a:xfrm>
          <a:prstGeom prst="roundRect">
            <a:avLst>
              <a:gd name="adj" fmla="val 13000"/>
            </a:avLst>
          </a:prstGeom>
          <a:solidFill>
            <a:srgbClr val="F1F5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102" name="Link 0"/>
          <p:cNvCxnSpPr/>
          <p:nvPr/>
        </p:nvCxnSpPr>
        <p:spPr>
          <a:xfrm>
            <a:off x="1130000" y="1590000"/>
            <a:ext cx="170000" cy="0"/>
          </a:xfrm>
          <a:prstGeom prst="line">
            <a:avLst/>
          </a:prstGeom>
          <a:ln w="12700">
            <a:solidFill>
              <a:srgbClr val="B9C8DD"/>
            </a:solidFill>
            <a:prstDash val="sysDot"/>
            <a:tailEnd type="triangle" w="sm" len="sm"/>
          </a:ln>
        </p:spPr>
      </p:cxnSp>
      <p:sp>
        <p:nvSpPr>
          <p:cNvPr id="103" name="Tile 0"/>
          <p:cNvSpPr/>
          <p:nvPr/>
        </p:nvSpPr>
        <p:spPr>
          <a:xfrm>
            <a:off x="470000" y="1270000"/>
            <a:ext cx="640000" cy="640000"/>
          </a:xfrm>
          <a:prstGeom prst="roundRect">
            <a:avLst>
              <a:gd name="adj" fmla="val 21000"/>
            </a:avLst>
          </a:prstGeom>
          <a:solidFill>
            <a:srgbClr val="EAF0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04" name="Icon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00" y="1390000"/>
            <a:ext cx="400000" cy="400000"/>
          </a:xfrm>
          <a:prstGeom prst="rect">
            <a:avLst/>
          </a:prstGeom>
        </p:spPr>
      </p:pic>
      <p:sp>
        <p:nvSpPr>
          <p:cNvPr id="105" name="Text 0"/>
          <p:cNvSpPr txBox="1"/>
          <p:nvPr/>
        </p:nvSpPr>
        <p:spPr>
          <a:xfrm>
            <a:off x="1540000" y="1335000"/>
            <a:ext cx="10220000" cy="5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246000" indent="-246000">
              <a:lnSpc>
                <a:spcPct val="100000"/>
              </a:lnSpc>
              <a:buClr>
                <a:srgbClr val="10294F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029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Project Repository: </a:t>
            </a:r>
            <a:r>
              <a:rPr lang="en-US" sz="1400" dirty="0">
                <a:solidFill>
                  <a:srgbClr val="1F6FC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github.com/Rengoku9000/Secure-Mesh-V1</a:t>
            </a:r>
          </a:p>
          <a:p>
            <a:pPr marL="24600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A5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Source code, documentation, tests and measured benchmarks.</a:t>
            </a:r>
            <a:endParaRPr lang="en-US" sz="1200" dirty="0">
              <a:solidFill>
                <a:srgbClr val="3A4A5E"/>
              </a:solidFill>
              <a:latin typeface="Segoe UI" panose="020B0502040204020203" pitchFamily="34" charset="0"/>
            </a:endParaRPr>
          </a:p>
        </p:txBody>
      </p:sp>
      <p:sp>
        <p:nvSpPr>
          <p:cNvPr id="106" name="Band 1"/>
          <p:cNvSpPr/>
          <p:nvPr/>
        </p:nvSpPr>
        <p:spPr>
          <a:xfrm>
            <a:off x="1290000" y="1990000"/>
            <a:ext cx="10620000" cy="600000"/>
          </a:xfrm>
          <a:prstGeom prst="roundRect">
            <a:avLst>
              <a:gd name="adj" fmla="val 13000"/>
            </a:avLst>
          </a:prstGeom>
          <a:solidFill>
            <a:srgbClr val="F1F5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107" name="Link 1"/>
          <p:cNvCxnSpPr/>
          <p:nvPr/>
        </p:nvCxnSpPr>
        <p:spPr>
          <a:xfrm>
            <a:off x="1130000" y="2290000"/>
            <a:ext cx="170000" cy="0"/>
          </a:xfrm>
          <a:prstGeom prst="line">
            <a:avLst/>
          </a:prstGeom>
          <a:ln w="12700">
            <a:solidFill>
              <a:srgbClr val="B9C8DD"/>
            </a:solidFill>
            <a:prstDash val="sysDot"/>
            <a:tailEnd type="triangle" w="sm" len="sm"/>
          </a:ln>
        </p:spPr>
      </p:cxnSp>
      <p:sp>
        <p:nvSpPr>
          <p:cNvPr id="108" name="Tile 1"/>
          <p:cNvSpPr/>
          <p:nvPr/>
        </p:nvSpPr>
        <p:spPr>
          <a:xfrm>
            <a:off x="470000" y="1970000"/>
            <a:ext cx="640000" cy="640000"/>
          </a:xfrm>
          <a:prstGeom prst="roundRect">
            <a:avLst>
              <a:gd name="adj" fmla="val 21000"/>
            </a:avLst>
          </a:prstGeom>
          <a:solidFill>
            <a:srgbClr val="EAF0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09" name="Ic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000" y="2090000"/>
            <a:ext cx="400000" cy="400000"/>
          </a:xfrm>
          <a:prstGeom prst="rect">
            <a:avLst/>
          </a:prstGeom>
        </p:spPr>
      </p:pic>
      <p:sp>
        <p:nvSpPr>
          <p:cNvPr id="110" name="Text 1"/>
          <p:cNvSpPr txBox="1"/>
          <p:nvPr/>
        </p:nvSpPr>
        <p:spPr>
          <a:xfrm>
            <a:off x="1540000" y="2035000"/>
            <a:ext cx="10220000" cy="5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246000" indent="-246000">
              <a:lnSpc>
                <a:spcPct val="100000"/>
              </a:lnSpc>
              <a:buClr>
                <a:srgbClr val="10294F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029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Qwen2.5-1.5B-Instruct: </a:t>
            </a:r>
            <a:r>
              <a:rPr lang="en-US" sz="1400" dirty="0">
                <a:solidFill>
                  <a:srgbClr val="1F6FC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huggingface.co/Qwen/Qwen2.5-1.5B-Instruct-GGUF</a:t>
            </a:r>
            <a:r>
              <a:rPr lang="en-US" sz="1400" dirty="0">
                <a:solidFill>
                  <a:srgbClr val="3A4A5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(Apache-2.0)</a:t>
            </a:r>
          </a:p>
          <a:p>
            <a:pPr marL="24600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A5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Local LLM used for on-device inference; fine-tuned into SecureMesh-SLM.</a:t>
            </a:r>
            <a:endParaRPr lang="en-US" sz="1200" dirty="0">
              <a:solidFill>
                <a:srgbClr val="3A4A5E"/>
              </a:solidFill>
              <a:latin typeface="Segoe UI" panose="020B0502040204020203" pitchFamily="34" charset="0"/>
            </a:endParaRPr>
          </a:p>
        </p:txBody>
      </p:sp>
      <p:sp>
        <p:nvSpPr>
          <p:cNvPr id="111" name="Band 2"/>
          <p:cNvSpPr/>
          <p:nvPr/>
        </p:nvSpPr>
        <p:spPr>
          <a:xfrm>
            <a:off x="1290000" y="2690000"/>
            <a:ext cx="10620000" cy="600000"/>
          </a:xfrm>
          <a:prstGeom prst="roundRect">
            <a:avLst>
              <a:gd name="adj" fmla="val 13000"/>
            </a:avLst>
          </a:prstGeom>
          <a:solidFill>
            <a:srgbClr val="F1F5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112" name="Link 2"/>
          <p:cNvCxnSpPr/>
          <p:nvPr/>
        </p:nvCxnSpPr>
        <p:spPr>
          <a:xfrm>
            <a:off x="1130000" y="2990000"/>
            <a:ext cx="170000" cy="0"/>
          </a:xfrm>
          <a:prstGeom prst="line">
            <a:avLst/>
          </a:prstGeom>
          <a:ln w="12700">
            <a:solidFill>
              <a:srgbClr val="B9C8DD"/>
            </a:solidFill>
            <a:prstDash val="sysDot"/>
            <a:tailEnd type="triangle" w="sm" len="sm"/>
          </a:ln>
        </p:spPr>
      </p:cxnSp>
      <p:sp>
        <p:nvSpPr>
          <p:cNvPr id="113" name="Tile 2"/>
          <p:cNvSpPr/>
          <p:nvPr/>
        </p:nvSpPr>
        <p:spPr>
          <a:xfrm>
            <a:off x="470000" y="2670000"/>
            <a:ext cx="640000" cy="640000"/>
          </a:xfrm>
          <a:prstGeom prst="roundRect">
            <a:avLst>
              <a:gd name="adj" fmla="val 21000"/>
            </a:avLst>
          </a:prstGeom>
          <a:solidFill>
            <a:srgbClr val="EAF0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14" name="Icon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000" y="2790000"/>
            <a:ext cx="400000" cy="400000"/>
          </a:xfrm>
          <a:prstGeom prst="rect">
            <a:avLst/>
          </a:prstGeom>
        </p:spPr>
      </p:pic>
      <p:sp>
        <p:nvSpPr>
          <p:cNvPr id="115" name="Text 2"/>
          <p:cNvSpPr txBox="1"/>
          <p:nvPr/>
        </p:nvSpPr>
        <p:spPr>
          <a:xfrm>
            <a:off x="1540000" y="2735000"/>
            <a:ext cx="10220000" cy="5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246000" indent="-246000">
              <a:lnSpc>
                <a:spcPct val="100000"/>
              </a:lnSpc>
              <a:buClr>
                <a:srgbClr val="10294F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029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BGE-small-en-v1.5: </a:t>
            </a:r>
            <a:r>
              <a:rPr lang="en-US" sz="1400" dirty="0">
                <a:solidFill>
                  <a:srgbClr val="1F6FC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huggingface.co/CompendiumLabs/bge-small-en-v1.5-gguf</a:t>
            </a:r>
            <a:r>
              <a:rPr lang="en-US" sz="1400" dirty="0">
                <a:solidFill>
                  <a:srgbClr val="3A4A5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(MIT)</a:t>
            </a:r>
          </a:p>
          <a:p>
            <a:pPr marL="24600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A5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Embeddings model for local semantic retrieval.</a:t>
            </a:r>
            <a:endParaRPr lang="en-US" sz="1200" dirty="0">
              <a:solidFill>
                <a:srgbClr val="3A4A5E"/>
              </a:solidFill>
              <a:latin typeface="Segoe UI" panose="020B0502040204020203" pitchFamily="34" charset="0"/>
            </a:endParaRPr>
          </a:p>
        </p:txBody>
      </p:sp>
      <p:sp>
        <p:nvSpPr>
          <p:cNvPr id="116" name="Band 3"/>
          <p:cNvSpPr/>
          <p:nvPr/>
        </p:nvSpPr>
        <p:spPr>
          <a:xfrm>
            <a:off x="1290000" y="3390000"/>
            <a:ext cx="10620000" cy="600000"/>
          </a:xfrm>
          <a:prstGeom prst="roundRect">
            <a:avLst>
              <a:gd name="adj" fmla="val 13000"/>
            </a:avLst>
          </a:prstGeom>
          <a:solidFill>
            <a:srgbClr val="F1F5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117" name="Link 3"/>
          <p:cNvCxnSpPr/>
          <p:nvPr/>
        </p:nvCxnSpPr>
        <p:spPr>
          <a:xfrm>
            <a:off x="1130000" y="3690000"/>
            <a:ext cx="170000" cy="0"/>
          </a:xfrm>
          <a:prstGeom prst="line">
            <a:avLst/>
          </a:prstGeom>
          <a:ln w="12700">
            <a:solidFill>
              <a:srgbClr val="B9C8DD"/>
            </a:solidFill>
            <a:prstDash val="sysDot"/>
            <a:tailEnd type="triangle" w="sm" len="sm"/>
          </a:ln>
        </p:spPr>
      </p:cxnSp>
      <p:sp>
        <p:nvSpPr>
          <p:cNvPr id="118" name="Tile 3"/>
          <p:cNvSpPr/>
          <p:nvPr/>
        </p:nvSpPr>
        <p:spPr>
          <a:xfrm>
            <a:off x="470000" y="3370000"/>
            <a:ext cx="640000" cy="640000"/>
          </a:xfrm>
          <a:prstGeom prst="roundRect">
            <a:avLst>
              <a:gd name="adj" fmla="val 21000"/>
            </a:avLst>
          </a:prstGeom>
          <a:solidFill>
            <a:srgbClr val="EAF0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19" name="Icon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000" y="3490000"/>
            <a:ext cx="400000" cy="400000"/>
          </a:xfrm>
          <a:prstGeom prst="rect">
            <a:avLst/>
          </a:prstGeom>
        </p:spPr>
      </p:pic>
      <p:sp>
        <p:nvSpPr>
          <p:cNvPr id="120" name="Text 3"/>
          <p:cNvSpPr txBox="1"/>
          <p:nvPr/>
        </p:nvSpPr>
        <p:spPr>
          <a:xfrm>
            <a:off x="1540000" y="3435000"/>
            <a:ext cx="10220000" cy="5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246000" indent="-246000">
              <a:lnSpc>
                <a:spcPct val="100000"/>
              </a:lnSpc>
              <a:buClr>
                <a:srgbClr val="10294F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029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llama.cpp: </a:t>
            </a:r>
            <a:r>
              <a:rPr lang="en-US" sz="1400" dirty="0">
                <a:solidFill>
                  <a:srgbClr val="1F6FC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github.com/ggml-org/llama.cpp</a:t>
            </a:r>
            <a:r>
              <a:rPr lang="en-US" sz="1400" dirty="0">
                <a:solidFill>
                  <a:srgbClr val="3A4A5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(MIT)</a:t>
            </a:r>
          </a:p>
          <a:p>
            <a:pPr marL="24600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A5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CPU inference runtime used for local LLM execution.</a:t>
            </a:r>
            <a:endParaRPr lang="en-US" sz="1200" dirty="0">
              <a:solidFill>
                <a:srgbClr val="3A4A5E"/>
              </a:solidFill>
              <a:latin typeface="Segoe UI" panose="020B0502040204020203" pitchFamily="34" charset="0"/>
            </a:endParaRPr>
          </a:p>
        </p:txBody>
      </p:sp>
      <p:sp>
        <p:nvSpPr>
          <p:cNvPr id="121" name="Band 4"/>
          <p:cNvSpPr/>
          <p:nvPr/>
        </p:nvSpPr>
        <p:spPr>
          <a:xfrm>
            <a:off x="1290000" y="4090000"/>
            <a:ext cx="10620000" cy="600000"/>
          </a:xfrm>
          <a:prstGeom prst="roundRect">
            <a:avLst>
              <a:gd name="adj" fmla="val 13000"/>
            </a:avLst>
          </a:prstGeom>
          <a:solidFill>
            <a:srgbClr val="F1F5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122" name="Link 4"/>
          <p:cNvCxnSpPr/>
          <p:nvPr/>
        </p:nvCxnSpPr>
        <p:spPr>
          <a:xfrm>
            <a:off x="1130000" y="4390000"/>
            <a:ext cx="170000" cy="0"/>
          </a:xfrm>
          <a:prstGeom prst="line">
            <a:avLst/>
          </a:prstGeom>
          <a:ln w="12700">
            <a:solidFill>
              <a:srgbClr val="B9C8DD"/>
            </a:solidFill>
            <a:prstDash val="sysDot"/>
            <a:tailEnd type="triangle" w="sm" len="sm"/>
          </a:ln>
        </p:spPr>
      </p:cxnSp>
      <p:sp>
        <p:nvSpPr>
          <p:cNvPr id="123" name="Tile 4"/>
          <p:cNvSpPr/>
          <p:nvPr/>
        </p:nvSpPr>
        <p:spPr>
          <a:xfrm>
            <a:off x="470000" y="4070000"/>
            <a:ext cx="640000" cy="640000"/>
          </a:xfrm>
          <a:prstGeom prst="roundRect">
            <a:avLst>
              <a:gd name="adj" fmla="val 21000"/>
            </a:avLst>
          </a:prstGeom>
          <a:solidFill>
            <a:srgbClr val="EAF0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24" name="Icon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000" y="4190000"/>
            <a:ext cx="400000" cy="400000"/>
          </a:xfrm>
          <a:prstGeom prst="rect">
            <a:avLst/>
          </a:prstGeom>
        </p:spPr>
      </p:pic>
      <p:sp>
        <p:nvSpPr>
          <p:cNvPr id="125" name="Text 4"/>
          <p:cNvSpPr txBox="1"/>
          <p:nvPr/>
        </p:nvSpPr>
        <p:spPr>
          <a:xfrm>
            <a:off x="1540000" y="4135000"/>
            <a:ext cx="10220000" cy="5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246000" indent="-246000">
              <a:lnSpc>
                <a:spcPct val="100000"/>
              </a:lnSpc>
              <a:buClr>
                <a:srgbClr val="10294F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029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libp2p: </a:t>
            </a:r>
            <a:r>
              <a:rPr lang="en-US" sz="1400" dirty="0">
                <a:solidFill>
                  <a:srgbClr val="1F6FC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libp2p.io</a:t>
            </a:r>
          </a:p>
          <a:p>
            <a:pPr marL="24600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A5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Peer-to-peer networking stack (QUIC transport, mDNS discovery).</a:t>
            </a:r>
            <a:endParaRPr lang="en-US" sz="1200" dirty="0">
              <a:solidFill>
                <a:srgbClr val="3A4A5E"/>
              </a:solidFill>
              <a:latin typeface="Segoe UI" panose="020B0502040204020203" pitchFamily="34" charset="0"/>
            </a:endParaRPr>
          </a:p>
        </p:txBody>
      </p:sp>
      <p:sp>
        <p:nvSpPr>
          <p:cNvPr id="126" name="Band 5"/>
          <p:cNvSpPr/>
          <p:nvPr/>
        </p:nvSpPr>
        <p:spPr>
          <a:xfrm>
            <a:off x="1290000" y="4790000"/>
            <a:ext cx="10620000" cy="600000"/>
          </a:xfrm>
          <a:prstGeom prst="roundRect">
            <a:avLst>
              <a:gd name="adj" fmla="val 13000"/>
            </a:avLst>
          </a:prstGeom>
          <a:solidFill>
            <a:srgbClr val="F1F5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127" name="Link 5"/>
          <p:cNvCxnSpPr/>
          <p:nvPr/>
        </p:nvCxnSpPr>
        <p:spPr>
          <a:xfrm>
            <a:off x="1130000" y="5090000"/>
            <a:ext cx="170000" cy="0"/>
          </a:xfrm>
          <a:prstGeom prst="line">
            <a:avLst/>
          </a:prstGeom>
          <a:ln w="12700">
            <a:solidFill>
              <a:srgbClr val="B9C8DD"/>
            </a:solidFill>
            <a:prstDash val="sysDot"/>
            <a:tailEnd type="triangle" w="sm" len="sm"/>
          </a:ln>
        </p:spPr>
      </p:cxnSp>
      <p:sp>
        <p:nvSpPr>
          <p:cNvPr id="128" name="Tile 5"/>
          <p:cNvSpPr/>
          <p:nvPr/>
        </p:nvSpPr>
        <p:spPr>
          <a:xfrm>
            <a:off x="470000" y="4770000"/>
            <a:ext cx="640000" cy="640000"/>
          </a:xfrm>
          <a:prstGeom prst="roundRect">
            <a:avLst>
              <a:gd name="adj" fmla="val 21000"/>
            </a:avLst>
          </a:prstGeom>
          <a:solidFill>
            <a:srgbClr val="EAF0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29" name="Icon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000" y="4890000"/>
            <a:ext cx="400000" cy="400000"/>
          </a:xfrm>
          <a:prstGeom prst="rect">
            <a:avLst/>
          </a:prstGeom>
        </p:spPr>
      </p:pic>
      <p:sp>
        <p:nvSpPr>
          <p:cNvPr id="130" name="Text 5"/>
          <p:cNvSpPr txBox="1"/>
          <p:nvPr/>
        </p:nvSpPr>
        <p:spPr>
          <a:xfrm>
            <a:off x="1540000" y="4835000"/>
            <a:ext cx="10220000" cy="5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246000" indent="-246000">
              <a:lnSpc>
                <a:spcPct val="100000"/>
              </a:lnSpc>
              <a:buClr>
                <a:srgbClr val="10294F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029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NVIDIA Jetson Linux Developer Guide: </a:t>
            </a:r>
            <a:r>
              <a:rPr lang="en-US" sz="1400" dirty="0">
                <a:solidFill>
                  <a:srgbClr val="1F6FC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docs.nvidia.com/jetson</a:t>
            </a:r>
          </a:p>
          <a:p>
            <a:pPr marL="24600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A5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OP-TEE, Secure Boot, Firmware TPM guidance.</a:t>
            </a:r>
            <a:endParaRPr lang="en-US" sz="1200" dirty="0">
              <a:solidFill>
                <a:srgbClr val="3A4A5E"/>
              </a:solidFill>
              <a:latin typeface="Segoe UI" panose="020B0502040204020203" pitchFamily="34" charset="0"/>
            </a:endParaRPr>
          </a:p>
        </p:txBody>
      </p:sp>
      <p:sp>
        <p:nvSpPr>
          <p:cNvPr id="131" name="Band 6"/>
          <p:cNvSpPr/>
          <p:nvPr/>
        </p:nvSpPr>
        <p:spPr>
          <a:xfrm>
            <a:off x="1290000" y="5490000"/>
            <a:ext cx="10620000" cy="600000"/>
          </a:xfrm>
          <a:prstGeom prst="roundRect">
            <a:avLst>
              <a:gd name="adj" fmla="val 13000"/>
            </a:avLst>
          </a:prstGeom>
          <a:solidFill>
            <a:srgbClr val="F1F5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132" name="Link 6"/>
          <p:cNvCxnSpPr/>
          <p:nvPr/>
        </p:nvCxnSpPr>
        <p:spPr>
          <a:xfrm>
            <a:off x="1130000" y="5790000"/>
            <a:ext cx="170000" cy="0"/>
          </a:xfrm>
          <a:prstGeom prst="line">
            <a:avLst/>
          </a:prstGeom>
          <a:ln w="12700">
            <a:solidFill>
              <a:srgbClr val="B9C8DD"/>
            </a:solidFill>
            <a:prstDash val="sysDot"/>
            <a:tailEnd type="triangle" w="sm" len="sm"/>
          </a:ln>
        </p:spPr>
      </p:cxnSp>
      <p:sp>
        <p:nvSpPr>
          <p:cNvPr id="133" name="Tile 6"/>
          <p:cNvSpPr/>
          <p:nvPr/>
        </p:nvSpPr>
        <p:spPr>
          <a:xfrm>
            <a:off x="470000" y="5470000"/>
            <a:ext cx="640000" cy="640000"/>
          </a:xfrm>
          <a:prstGeom prst="roundRect">
            <a:avLst>
              <a:gd name="adj" fmla="val 21000"/>
            </a:avLst>
          </a:prstGeom>
          <a:solidFill>
            <a:srgbClr val="EAF0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34" name="Icon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000" y="5590000"/>
            <a:ext cx="400000" cy="400000"/>
          </a:xfrm>
          <a:prstGeom prst="rect">
            <a:avLst/>
          </a:prstGeom>
        </p:spPr>
      </p:pic>
      <p:sp>
        <p:nvSpPr>
          <p:cNvPr id="135" name="Text 6"/>
          <p:cNvSpPr txBox="1"/>
          <p:nvPr/>
        </p:nvSpPr>
        <p:spPr>
          <a:xfrm>
            <a:off x="1540000" y="5535000"/>
            <a:ext cx="10220000" cy="5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246000" indent="-246000">
              <a:lnSpc>
                <a:spcPct val="100000"/>
              </a:lnSpc>
              <a:buClr>
                <a:srgbClr val="10294F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0294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OP-TEE: </a:t>
            </a:r>
            <a:r>
              <a:rPr lang="en-US" sz="1400" dirty="0">
                <a:solidFill>
                  <a:srgbClr val="1F6FC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optee.readthedocs.io</a:t>
            </a:r>
          </a:p>
          <a:p>
            <a:pPr marL="24600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A5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Open-source TrustZone trusted execution environment.</a:t>
            </a:r>
            <a:endParaRPr lang="en-US" sz="1200" dirty="0">
              <a:solidFill>
                <a:srgbClr val="3A4A5E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0287" y="132668"/>
            <a:ext cx="8792000" cy="800000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&amp; REFERENCES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Subtitle"/>
          <p:cNvSpPr txBox="1"/>
          <p:nvPr/>
        </p:nvSpPr>
        <p:spPr>
          <a:xfrm>
            <a:off x="2600000" y="935000"/>
            <a:ext cx="6992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Built on trusted open-source technologies and standards.</a:t>
            </a:r>
            <a:endParaRPr lang="en-US" sz="1600" dirty="0">
              <a:latin typeface="Segoe UI" panose="020B0502040204020203" pitchFamily="34" charset="0"/>
            </a:endParaRPr>
          </a:p>
        </p:txBody>
      </p:sp>
      <p:cxnSp>
        <p:nvCxnSpPr>
          <p:cNvPr id="137" name="Rule"/>
          <p:cNvCxnSpPr/>
          <p:nvPr/>
        </p:nvCxnSpPr>
        <p:spPr>
          <a:xfrm>
            <a:off x="2450000" y="1095000"/>
            <a:ext cx="760000" cy="0"/>
          </a:xfrm>
          <a:prstGeom prst="line">
            <a:avLst/>
          </a:prstGeom>
          <a:ln w="15875">
            <a:solidFill>
              <a:srgbClr val="1F6FC4"/>
            </a:solidFill>
            <a:headEnd type="diamond" w="sm" len="sm"/>
            <a:tailEnd type="diamond" w="sm" len="sm"/>
          </a:ln>
        </p:spPr>
      </p:cxnSp>
      <p:cxnSp>
        <p:nvCxnSpPr>
          <p:cNvPr id="138" name="Rule"/>
          <p:cNvCxnSpPr/>
          <p:nvPr/>
        </p:nvCxnSpPr>
        <p:spPr>
          <a:xfrm>
            <a:off x="8982000" y="1095000"/>
            <a:ext cx="760000" cy="0"/>
          </a:xfrm>
          <a:prstGeom prst="line">
            <a:avLst/>
          </a:prstGeom>
          <a:ln w="15875">
            <a:solidFill>
              <a:srgbClr val="1F6FC4"/>
            </a:solidFill>
            <a:headEnd type="diamond" w="sm" len="sm"/>
            <a:tailEnd type="diamond" w="sm" len="sm"/>
          </a:ln>
        </p:spPr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/>
          <p:cNvSpPr/>
          <p:nvPr/>
        </p:nvSpPr>
        <p:spPr>
          <a:xfrm>
            <a:off x="329773" y="256503"/>
            <a:ext cx="1251857" cy="80733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50000"/>
              </a:schemeClr>
            </a:solidFill>
          </a:ln>
          <a:effectLst>
            <a:glow rad="101600">
              <a:schemeClr val="accent5">
                <a:lumMod val="50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Impact" panose="020B0806030902050204" pitchFamily="34" charset="0"/>
              </a:rPr>
              <a:t>OUTLAWS</a:t>
            </a:r>
            <a:endParaRPr lang="en-IN" sz="14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C381AA6-CCB0-B15A-5A3B-999E33C1EF6F}"/>
              </a:ext>
            </a:extLst>
          </p:cNvPr>
          <p:cNvCxnSpPr/>
          <p:nvPr/>
        </p:nvCxnSpPr>
        <p:spPr>
          <a:xfrm>
            <a:off x="329773" y="1270000"/>
            <a:ext cx="0" cy="482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7918</TotalTime>
  <Words>403</Words>
  <Application>Microsoft Office PowerPoint</Application>
  <PresentationFormat>Widescreen</PresentationFormat>
  <Paragraphs>75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20" baseType="lpstr">
      <vt:lpstr>ＭＳ Ｐゴシック</vt:lpstr>
      <vt:lpstr>Arial</vt:lpstr>
      <vt:lpstr>Calibri</vt:lpstr>
      <vt:lpstr>Cambria</vt:lpstr>
      <vt:lpstr>Garamond</vt:lpstr>
      <vt:lpstr>Impact</vt:lpstr>
      <vt:lpstr>Inter</vt:lpstr>
      <vt:lpstr>Inter SemiBold</vt:lpstr>
      <vt:lpstr>Segoe UI</vt:lpstr>
      <vt:lpstr>Space Grotesk</vt:lpstr>
      <vt:lpstr>Times New Roman</vt:lpstr>
      <vt:lpstr>TradeGothic</vt:lpstr>
      <vt:lpstr>Wingdings</vt:lpstr>
      <vt:lpstr>Office Theme</vt:lpstr>
      <vt:lpstr>SMART INDIA HACKATHON 2026</vt:lpstr>
      <vt:lpstr>Secure Mesh- Private, Offline, Trusted, Intelligent</vt:lpstr>
      <vt:lpstr>TECHNICAL APPROACH</vt:lpstr>
      <vt:lpstr>FEASIBILITY AND VIABILITY</vt:lpstr>
      <vt:lpstr>IMPACT AND BENEFITS</vt:lpstr>
      <vt:lpstr>RESEARCH &amp;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Rounak Samanta</cp:lastModifiedBy>
  <cp:revision>173</cp:revision>
  <dcterms:created xsi:type="dcterms:W3CDTF">2013-12-12T18:46:50Z</dcterms:created>
  <dcterms:modified xsi:type="dcterms:W3CDTF">2026-09-22T16:47:37Z</dcterms:modified>
  <cp:category/>
</cp:coreProperties>
</file>